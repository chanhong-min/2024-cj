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</p:sldMasterIdLst>
  <p:notesMasterIdLst>
    <p:notesMasterId r:id="rId24"/>
  </p:notesMasterIdLst>
  <p:handoutMasterIdLst>
    <p:handoutMasterId r:id="rId25"/>
  </p:handoutMasterIdLst>
  <p:sldIdLst>
    <p:sldId id="1192" r:id="rId3"/>
    <p:sldId id="1466" r:id="rId4"/>
    <p:sldId id="1492" r:id="rId5"/>
    <p:sldId id="1620" r:id="rId6"/>
    <p:sldId id="1493" r:id="rId7"/>
    <p:sldId id="1494" r:id="rId8"/>
    <p:sldId id="1496" r:id="rId9"/>
    <p:sldId id="1498" r:id="rId10"/>
    <p:sldId id="1595" r:id="rId11"/>
    <p:sldId id="1598" r:id="rId12"/>
    <p:sldId id="1618" r:id="rId13"/>
    <p:sldId id="1612" r:id="rId14"/>
    <p:sldId id="1600" r:id="rId15"/>
    <p:sldId id="1613" r:id="rId16"/>
    <p:sldId id="1602" r:id="rId17"/>
    <p:sldId id="1614" r:id="rId18"/>
    <p:sldId id="1615" r:id="rId19"/>
    <p:sldId id="1616" r:id="rId20"/>
    <p:sldId id="1617" r:id="rId21"/>
    <p:sldId id="1611" r:id="rId22"/>
    <p:sldId id="1465" r:id="rId23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시작" id="{D0687D46-3112-441A-9009-35EA2DF9EE2B}">
          <p14:sldIdLst>
            <p14:sldId id="1192"/>
            <p14:sldId id="1466"/>
          </p14:sldIdLst>
        </p14:section>
        <p14:section name="1. 불확실성" id="{5CB5F27F-03B2-4B5E-973D-E4DC8EF13F03}">
          <p14:sldIdLst>
            <p14:sldId id="1492"/>
            <p14:sldId id="1620"/>
            <p14:sldId id="1493"/>
            <p14:sldId id="1494"/>
            <p14:sldId id="1496"/>
          </p14:sldIdLst>
        </p14:section>
        <p14:section name="2. 3D CNN" id="{A68E5CB1-CE75-4BB7-A13D-EA5B2B30A85B}">
          <p14:sldIdLst>
            <p14:sldId id="1498"/>
            <p14:sldId id="1595"/>
            <p14:sldId id="1598"/>
            <p14:sldId id="1618"/>
            <p14:sldId id="1612"/>
            <p14:sldId id="1600"/>
            <p14:sldId id="1613"/>
            <p14:sldId id="1602"/>
            <p14:sldId id="1614"/>
            <p14:sldId id="1615"/>
            <p14:sldId id="1616"/>
            <p14:sldId id="1617"/>
          </p14:sldIdLst>
        </p14:section>
        <p14:section name="5. 결론" id="{37251351-0D8B-4293-A84C-5088C408C316}">
          <p14:sldIdLst>
            <p14:sldId id="1611"/>
          </p14:sldIdLst>
        </p14:section>
        <p14:section name="인턴생활 배운점" id="{1528881A-2331-4F44-8FEC-9A96C31C9C5B}">
          <p14:sldIdLst>
            <p14:sldId id="14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ewon" initials="k" lastIdx="1" clrIdx="0">
    <p:extLst>
      <p:ext uri="{19B8F6BF-5375-455C-9EA6-DF929625EA0E}">
        <p15:presenceInfo xmlns:p15="http://schemas.microsoft.com/office/powerpoint/2012/main" userId="keewon" providerId="None"/>
      </p:ext>
    </p:extLst>
  </p:cmAuthor>
  <p:cmAuthor id="2" name="dia517@korea.edu" initials="d" lastIdx="1" clrIdx="1">
    <p:extLst>
      <p:ext uri="{19B8F6BF-5375-455C-9EA6-DF929625EA0E}">
        <p15:presenceInfo xmlns:p15="http://schemas.microsoft.com/office/powerpoint/2012/main" userId="S::dia517@korea.edu::c605c38b-56ce-4b10-8cab-85097679266c" providerId="AD"/>
      </p:ext>
    </p:extLst>
  </p:cmAuthor>
  <p:cmAuthor id="3" name="Sungsu Kim" initials="Sungsu" lastIdx="1" clrIdx="2">
    <p:extLst>
      <p:ext uri="{19B8F6BF-5375-455C-9EA6-DF929625EA0E}">
        <p15:presenceInfo xmlns:p15="http://schemas.microsoft.com/office/powerpoint/2012/main" userId="Sungsu Ki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28212"/>
    <a:srgbClr val="712D69"/>
    <a:srgbClr val="321205"/>
    <a:srgbClr val="6D2D5F"/>
    <a:srgbClr val="972C12"/>
    <a:srgbClr val="04574E"/>
    <a:srgbClr val="495084"/>
    <a:srgbClr val="8C9B7E"/>
    <a:srgbClr val="753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2" autoAdjust="0"/>
    <p:restoredTop sz="88028" autoAdjust="0"/>
  </p:normalViewPr>
  <p:slideViewPr>
    <p:cSldViewPr snapToGrid="0">
      <p:cViewPr varScale="1">
        <p:scale>
          <a:sx n="65" d="100"/>
          <a:sy n="65" d="100"/>
        </p:scale>
        <p:origin x="159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67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KoPub돋움체 Medium" panose="02020603020101020101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FEEBF-582B-49CF-94F7-7379EF50A3B7}" type="datetimeFigureOut">
              <a:rPr lang="ko-KR" altLang="en-US" smtClean="0">
                <a:ea typeface="KoPub돋움체 Medium" panose="02020603020101020101"/>
              </a:rPr>
              <a:t>2024-12-26</a:t>
            </a:fld>
            <a:endParaRPr lang="ko-KR" altLang="en-US" dirty="0">
              <a:ea typeface="KoPub돋움체 Medium" panose="02020603020101020101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KoPub돋움체 Medium" panose="02020603020101020101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C2C3-0E27-40C5-8405-1DF2D3D8A6E7}" type="slidenum">
              <a:rPr lang="ko-KR" altLang="en-US" smtClean="0">
                <a:ea typeface="KoPub돋움체 Medium" panose="02020603020101020101"/>
              </a:rPr>
              <a:t>‹#›</a:t>
            </a:fld>
            <a:endParaRPr lang="ko-KR" altLang="en-US" dirty="0">
              <a:ea typeface="KoPub돋움체 Medium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493164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KoPub돋움체 Medium" panose="02020603020101020101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KoPub돋움체 Medium" panose="02020603020101020101"/>
              </a:defRPr>
            </a:lvl1pPr>
          </a:lstStyle>
          <a:p>
            <a:fld id="{22355A16-A783-4C45-9D27-BF88976EF6D6}" type="datetimeFigureOut">
              <a:rPr lang="ko-KR" altLang="en-US" smtClean="0"/>
              <a:pPr/>
              <a:t>2024-12-26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KoPub돋움체 Medium" panose="02020603020101020101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KoPub돋움체 Medium" panose="02020603020101020101"/>
              </a:defRPr>
            </a:lvl1pPr>
          </a:lstStyle>
          <a:p>
            <a:fld id="{D46FD887-650B-406D-92A0-EFDFBED57BC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54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KoPub돋움체 Medium" panose="02020603020101020101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KoPub돋움체 Medium" panose="02020603020101020101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KoPub돋움체 Medium" panose="02020603020101020101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KoPub돋움체 Medium" panose="02020603020101020101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KoPub돋움체 Medium" panose="02020603020101020101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불확실성과 시계열 모델링 기반 작물 생육일차 예측 발표 시작하겠습니다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6216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8034-3C28-51E6-5A6E-30CB4ECE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7037B5-0B22-0437-0CA5-B17751858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2FC677-36D9-30CB-6E5C-DC5BB367D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발표는 다음과 같이 진행하겠습니다</a:t>
            </a:r>
            <a:r>
              <a:rPr lang="en-US" altLang="ko-KR" dirty="0"/>
              <a:t>. </a:t>
            </a:r>
            <a:r>
              <a:rPr lang="ko-KR" altLang="en-US" dirty="0"/>
              <a:t>불확실성</a:t>
            </a:r>
            <a:r>
              <a:rPr lang="en-US" altLang="ko-KR" dirty="0"/>
              <a:t>, </a:t>
            </a:r>
            <a:r>
              <a:rPr lang="ko-KR" altLang="en-US" dirty="0"/>
              <a:t>시계열 모델링 크게 </a:t>
            </a:r>
            <a:r>
              <a:rPr lang="en-US" altLang="ko-KR" dirty="0"/>
              <a:t>2</a:t>
            </a:r>
            <a:r>
              <a:rPr lang="ko-KR" altLang="en-US" dirty="0"/>
              <a:t>가지 주제 및 각각의 결과를 공유하도록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87D442-DAAF-1552-0F03-D97EBB8CD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139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불확실성입니다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74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실험에서 불확실성을 확인하는 이유는 다음과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Neural Net</a:t>
            </a:r>
            <a:r>
              <a:rPr lang="ko-KR" altLang="en-US" dirty="0"/>
              <a:t>들은 학습 </a:t>
            </a:r>
            <a:r>
              <a:rPr lang="en-US" altLang="ko-KR" dirty="0"/>
              <a:t>data</a:t>
            </a:r>
            <a:r>
              <a:rPr lang="ko-KR" altLang="en-US" dirty="0"/>
              <a:t>만을 가지고 학습을 하기에 단지 학습 </a:t>
            </a:r>
            <a:r>
              <a:rPr lang="en-US" altLang="ko-KR" dirty="0"/>
              <a:t>data</a:t>
            </a:r>
            <a:r>
              <a:rPr lang="ko-KR" altLang="en-US" dirty="0"/>
              <a:t>에 대해서만 </a:t>
            </a:r>
            <a:r>
              <a:rPr lang="en-US" altLang="ko-KR" dirty="0"/>
              <a:t>fitting</a:t>
            </a:r>
            <a:r>
              <a:rPr lang="ko-KR" altLang="en-US" dirty="0"/>
              <a:t>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학습 데이터에서 보지 못한 혹은 학습 데이터의 분포와 다른 분포를 갖는 예측 데이터에 대해 </a:t>
            </a:r>
            <a:r>
              <a:rPr lang="en-US" altLang="ko-KR" dirty="0"/>
              <a:t>Neural net</a:t>
            </a:r>
            <a:r>
              <a:rPr lang="ko-KR" altLang="en-US" dirty="0"/>
              <a:t>이 정확하게 예측하는지 의문을 가질 필요가 있고</a:t>
            </a:r>
            <a:r>
              <a:rPr lang="en-US" altLang="ko-KR" dirty="0"/>
              <a:t>, </a:t>
            </a:r>
            <a:r>
              <a:rPr lang="ko-KR" altLang="en-US" dirty="0"/>
              <a:t>본 실험에서 이를 불확실성을 지표를 통해 </a:t>
            </a:r>
            <a:r>
              <a:rPr lang="ko-KR" altLang="en-US" dirty="0" err="1"/>
              <a:t>정량화하였습니다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불확실성이란 모델의 예측 결과를 얼마나 신뢰할 수 있는지 나타내는 지표로 </a:t>
            </a:r>
            <a:endParaRPr lang="en-US" altLang="ko-KR" dirty="0"/>
          </a:p>
          <a:p>
            <a:r>
              <a:rPr lang="ko-KR" altLang="en-US" dirty="0"/>
              <a:t>불확실성이 클수록 판단이나 의사결정에 필요한 정보가 부족하여 모델이 잘못 판단할 가능성이 높다고 해석할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본 실험에서 불확실성 정량화 기법으로 </a:t>
            </a:r>
            <a:r>
              <a:rPr lang="en-US" altLang="ko-KR" dirty="0"/>
              <a:t>MC Dropout</a:t>
            </a:r>
            <a:r>
              <a:rPr lang="ko-KR" altLang="en-US" dirty="0"/>
              <a:t>을 사용하였습니다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불확실성을 표현하는 가장 기본적인 방법은 </a:t>
            </a:r>
            <a:r>
              <a:rPr lang="en-US" altLang="ko-KR" dirty="0"/>
              <a:t>Bayesian </a:t>
            </a:r>
            <a:r>
              <a:rPr lang="ko-KR" altLang="en-US" dirty="0"/>
              <a:t>기반 </a:t>
            </a:r>
            <a:r>
              <a:rPr lang="en-US" altLang="ko-KR" dirty="0"/>
              <a:t>modeling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이 중 가장 널리 사용되는 방법인 </a:t>
            </a:r>
            <a:r>
              <a:rPr lang="en-US" altLang="ko-KR" dirty="0"/>
              <a:t>mc dropout</a:t>
            </a:r>
            <a:r>
              <a:rPr lang="ko-KR" altLang="en-US" dirty="0"/>
              <a:t> 방식을 택했습니다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하단의 그림과 같이 일반적인 신경망과 다르게 가중치가 고정되어 있는 것이 아니라 확률 분포가 결정되어 있는 신경망을 베이지안 신경망이라고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Mc dropout</a:t>
            </a:r>
            <a:r>
              <a:rPr lang="ko-KR" altLang="en-US" dirty="0"/>
              <a:t>이란 </a:t>
            </a:r>
            <a:r>
              <a:rPr lang="en-US" altLang="ko-KR" dirty="0"/>
              <a:t>inference</a:t>
            </a:r>
            <a:r>
              <a:rPr lang="ko-KR" altLang="en-US" dirty="0"/>
              <a:t> 시 </a:t>
            </a:r>
            <a:r>
              <a:rPr lang="en-US" altLang="ko-KR" dirty="0"/>
              <a:t>dropout</a:t>
            </a:r>
            <a:r>
              <a:rPr lang="ko-KR" altLang="en-US" dirty="0"/>
              <a:t>을 활성화시켜 여러 번의 </a:t>
            </a:r>
            <a:r>
              <a:rPr lang="en-US" altLang="ko-KR" dirty="0"/>
              <a:t>output</a:t>
            </a:r>
            <a:r>
              <a:rPr lang="ko-KR" altLang="en-US" dirty="0"/>
              <a:t>을 뽑는</a:t>
            </a:r>
            <a:r>
              <a:rPr lang="en-US" altLang="ko-KR" dirty="0"/>
              <a:t> </a:t>
            </a:r>
            <a:r>
              <a:rPr lang="ko-KR" altLang="en-US" dirty="0"/>
              <a:t>기법으로</a:t>
            </a:r>
            <a:endParaRPr lang="en-US" altLang="ko-KR" dirty="0"/>
          </a:p>
          <a:p>
            <a:r>
              <a:rPr lang="ko-KR" altLang="en-US" dirty="0"/>
              <a:t>나온 </a:t>
            </a:r>
            <a:r>
              <a:rPr lang="en-US" altLang="ko-KR" dirty="0"/>
              <a:t>output</a:t>
            </a:r>
            <a:r>
              <a:rPr lang="ko-KR" altLang="en-US" dirty="0"/>
              <a:t>들의 표준편차를 불확실성으로 사용하게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</a:t>
            </a:r>
            <a:r>
              <a:rPr lang="en-US" altLang="ko-KR" dirty="0"/>
              <a:t>, </a:t>
            </a:r>
            <a:r>
              <a:rPr lang="ko-KR" altLang="en-US" dirty="0"/>
              <a:t>신경망의 모든 노드가 아닌 일부 노드를 통해 </a:t>
            </a:r>
            <a:r>
              <a:rPr lang="en-US" altLang="ko-KR" dirty="0"/>
              <a:t>output</a:t>
            </a:r>
            <a:r>
              <a:rPr lang="ko-KR" altLang="en-US" dirty="0"/>
              <a:t>을 산출함으로써 선택된 노드들의 </a:t>
            </a:r>
            <a:endParaRPr lang="en-US" altLang="ko-KR" dirty="0"/>
          </a:p>
          <a:p>
            <a:r>
              <a:rPr lang="ko-KR" altLang="en-US" dirty="0"/>
              <a:t>조합에 따라 다른 가중치를 가지는 신경망이 나오게 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베이지안 신경망과 마찬가지로 여러 개의 신경망을 수행하는 효과를 가지게 되는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526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Dropout </a:t>
            </a:r>
            <a:r>
              <a:rPr lang="ko-KR" altLang="en-US" dirty="0"/>
              <a:t>적용 위치는 다음과 같이 각 </a:t>
            </a:r>
            <a:r>
              <a:rPr lang="en-US" altLang="ko-KR" dirty="0"/>
              <a:t>layer</a:t>
            </a:r>
            <a:r>
              <a:rPr lang="ko-KR" altLang="en-US" dirty="0"/>
              <a:t>의 말단과</a:t>
            </a:r>
            <a:r>
              <a:rPr lang="en-US" altLang="ko-KR" dirty="0"/>
              <a:t> fully connected layer </a:t>
            </a:r>
            <a:r>
              <a:rPr lang="ko-KR" altLang="en-US" dirty="0"/>
              <a:t>앞 부분입니다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이유는 </a:t>
            </a:r>
            <a:r>
              <a:rPr lang="en-US" altLang="ko-KR" dirty="0" err="1"/>
              <a:t>Resenet</a:t>
            </a:r>
            <a:r>
              <a:rPr lang="en-US" altLang="ko-KR" dirty="0"/>
              <a:t> 18</a:t>
            </a:r>
            <a:r>
              <a:rPr lang="ko-KR" altLang="en-US" dirty="0"/>
              <a:t>의 각 계층이 각기 다른 수준의 특징을 학습한다는 특성을 반영함과 동시에</a:t>
            </a:r>
            <a:endParaRPr lang="en-US" altLang="ko-KR" dirty="0"/>
          </a:p>
          <a:p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의 정보 손실을 방지하기 위해 </a:t>
            </a:r>
            <a:r>
              <a:rPr lang="en-US" altLang="ko-KR" dirty="0"/>
              <a:t>shortcut </a:t>
            </a:r>
            <a:r>
              <a:rPr lang="ko-KR" altLang="en-US" dirty="0"/>
              <a:t>연결에 영향을 주지 않도록 하기 </a:t>
            </a:r>
            <a:r>
              <a:rPr lang="ko-KR" altLang="en-US" dirty="0" err="1"/>
              <a:t>위함입니다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3252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불확실성 실험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Dropout rate</a:t>
            </a:r>
            <a:r>
              <a:rPr lang="ko-KR" altLang="en-US" dirty="0"/>
              <a:t>를 </a:t>
            </a:r>
            <a:r>
              <a:rPr lang="en-US" altLang="ko-KR" dirty="0"/>
              <a:t>10</a:t>
            </a:r>
            <a:r>
              <a:rPr lang="ko-KR" altLang="en-US" dirty="0"/>
              <a:t>의 </a:t>
            </a:r>
            <a:r>
              <a:rPr lang="en-US" altLang="ko-KR" dirty="0"/>
              <a:t>-1</a:t>
            </a:r>
            <a:r>
              <a:rPr lang="ko-KR" altLang="en-US" dirty="0"/>
              <a:t>승부터 </a:t>
            </a:r>
            <a:r>
              <a:rPr lang="en-US" altLang="ko-KR" dirty="0"/>
              <a:t>10</a:t>
            </a:r>
            <a:r>
              <a:rPr lang="ko-KR" altLang="en-US" dirty="0"/>
              <a:t>의 </a:t>
            </a:r>
            <a:r>
              <a:rPr lang="en-US" altLang="ko-KR" dirty="0"/>
              <a:t>-5</a:t>
            </a:r>
            <a:r>
              <a:rPr lang="ko-KR" altLang="en-US" dirty="0"/>
              <a:t>승까지 </a:t>
            </a:r>
            <a:r>
              <a:rPr lang="en-US" altLang="ko-KR" dirty="0"/>
              <a:t>5</a:t>
            </a:r>
            <a:r>
              <a:rPr lang="ko-KR" altLang="en-US" dirty="0"/>
              <a:t>개의 값을 가지고 각각 </a:t>
            </a:r>
            <a:r>
              <a:rPr lang="en-US" altLang="ko-KR" dirty="0"/>
              <a:t>10</a:t>
            </a:r>
            <a:r>
              <a:rPr lang="ko-KR" altLang="en-US" dirty="0"/>
              <a:t>번의 </a:t>
            </a:r>
            <a:r>
              <a:rPr lang="en-US" altLang="ko-KR" dirty="0"/>
              <a:t>output </a:t>
            </a:r>
            <a:r>
              <a:rPr lang="ko-KR" altLang="en-US" dirty="0"/>
              <a:t>산출을 통해 </a:t>
            </a:r>
            <a:r>
              <a:rPr lang="en-US" altLang="ko-KR" dirty="0"/>
              <a:t>uncertainty </a:t>
            </a:r>
            <a:r>
              <a:rPr lang="ko-KR" altLang="en-US" dirty="0"/>
              <a:t>값을 구하고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시각화 한 것이 아래 그래프입니다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Dropout rate</a:t>
            </a:r>
            <a:r>
              <a:rPr lang="ko-KR" altLang="en-US" dirty="0"/>
              <a:t>가 커질수록</a:t>
            </a:r>
            <a:r>
              <a:rPr lang="en-US" altLang="ko-KR" dirty="0"/>
              <a:t>(</a:t>
            </a:r>
            <a:r>
              <a:rPr lang="ko-KR" altLang="en-US" dirty="0"/>
              <a:t>그래프 상에서 </a:t>
            </a:r>
            <a:r>
              <a:rPr lang="en-US" altLang="ko-KR" dirty="0"/>
              <a:t>x</a:t>
            </a:r>
            <a:r>
              <a:rPr lang="ko-KR" altLang="en-US" dirty="0"/>
              <a:t>축 왼쪽 방향으로 갈수록</a:t>
            </a:r>
            <a:r>
              <a:rPr lang="en-US" altLang="ko-KR" dirty="0"/>
              <a:t>) </a:t>
            </a:r>
          </a:p>
          <a:p>
            <a:r>
              <a:rPr lang="en-US" altLang="ko-KR" dirty="0" err="1"/>
              <a:t>Uncertatinty</a:t>
            </a:r>
            <a:r>
              <a:rPr lang="en-US" altLang="ko-KR" dirty="0"/>
              <a:t> </a:t>
            </a:r>
            <a:r>
              <a:rPr lang="ko-KR" altLang="en-US" dirty="0"/>
              <a:t>값이 증가하는 것을 확인할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9297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아래는 </a:t>
            </a:r>
            <a:r>
              <a:rPr lang="en-US" altLang="ko-KR" dirty="0"/>
              <a:t>Dropout rate</a:t>
            </a:r>
            <a:r>
              <a:rPr lang="ko-KR" altLang="en-US" dirty="0"/>
              <a:t>를 변화시켰을 때 </a:t>
            </a:r>
            <a:r>
              <a:rPr lang="en-US" altLang="ko-KR" dirty="0"/>
              <a:t>Uncertainty, MAE</a:t>
            </a:r>
            <a:r>
              <a:rPr lang="ko-KR" altLang="en-US" dirty="0"/>
              <a:t>를 나타낸 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기존 모델의 경우 </a:t>
            </a:r>
            <a:r>
              <a:rPr lang="en-US" altLang="ko-KR" dirty="0"/>
              <a:t>inference </a:t>
            </a:r>
            <a:r>
              <a:rPr lang="ko-KR" altLang="en-US" dirty="0"/>
              <a:t>시 </a:t>
            </a:r>
            <a:r>
              <a:rPr lang="en-US" altLang="ko-KR" dirty="0"/>
              <a:t>Dropout</a:t>
            </a:r>
            <a:r>
              <a:rPr lang="ko-KR" altLang="en-US" dirty="0"/>
              <a:t>을 적용하지 않았기 때문에 불확실성 값이 </a:t>
            </a:r>
            <a:endParaRPr lang="en-US" altLang="ko-KR" dirty="0"/>
          </a:p>
          <a:p>
            <a:r>
              <a:rPr lang="ko-KR" altLang="en-US" dirty="0"/>
              <a:t>따로 산출되지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Dropout rate</a:t>
            </a:r>
            <a:r>
              <a:rPr lang="ko-KR" altLang="en-US" dirty="0"/>
              <a:t>가 증가함에 따라 </a:t>
            </a:r>
            <a:r>
              <a:rPr lang="en-US" altLang="ko-KR" dirty="0"/>
              <a:t>Uncertainty </a:t>
            </a:r>
            <a:r>
              <a:rPr lang="ko-KR" altLang="en-US" dirty="0"/>
              <a:t>값이 증가하는 것은 </a:t>
            </a:r>
            <a:endParaRPr lang="en-US" altLang="ko-KR" dirty="0"/>
          </a:p>
          <a:p>
            <a:r>
              <a:rPr lang="en-US" altLang="ko-KR" dirty="0"/>
              <a:t>Inference </a:t>
            </a:r>
            <a:r>
              <a:rPr lang="ko-KR" altLang="en-US" dirty="0"/>
              <a:t>시 사용하지 못하는 노드 수가 증가함에 따라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판단이나 의사결정에 필요한 정보가 부족하여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모델이 잘못 판단할 가능성이 높아지기 때문입니다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Dropout rate</a:t>
            </a:r>
            <a:r>
              <a:rPr lang="ko-KR" altLang="en-US" dirty="0"/>
              <a:t>가 증가함에 따라 더 많은 노드를 사용함에도 불구하고 </a:t>
            </a:r>
            <a:r>
              <a:rPr lang="en-US" altLang="ko-KR" dirty="0"/>
              <a:t>MAE</a:t>
            </a:r>
            <a:r>
              <a:rPr lang="ko-KR" altLang="en-US" dirty="0"/>
              <a:t>는 감소하는데 이는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모델이 학습 </a:t>
            </a:r>
            <a:r>
              <a:rPr lang="en-US" altLang="ko-KR" dirty="0"/>
              <a:t>data</a:t>
            </a:r>
            <a:r>
              <a:rPr lang="ko-KR" altLang="en-US" dirty="0"/>
              <a:t>에 </a:t>
            </a:r>
            <a:r>
              <a:rPr lang="ko-KR" altLang="en-US" dirty="0" err="1"/>
              <a:t>과적합되었기</a:t>
            </a:r>
            <a:r>
              <a:rPr lang="ko-KR" altLang="en-US" dirty="0"/>
              <a:t> 때문이라고 해석됩니다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또한 </a:t>
            </a:r>
            <a:r>
              <a:rPr lang="en-US" altLang="ko-KR" dirty="0"/>
              <a:t>dropout rate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의 </a:t>
            </a:r>
            <a:r>
              <a:rPr lang="en-US" altLang="ko-KR" dirty="0"/>
              <a:t>-2</a:t>
            </a:r>
            <a:r>
              <a:rPr lang="ko-KR" altLang="en-US" dirty="0"/>
              <a:t>승부터는 </a:t>
            </a:r>
            <a:r>
              <a:rPr lang="en-US" altLang="ko-KR" dirty="0"/>
              <a:t>Uncertainty </a:t>
            </a:r>
            <a:r>
              <a:rPr lang="ko-KR" altLang="en-US" dirty="0"/>
              <a:t>값이 급격히 </a:t>
            </a:r>
            <a:r>
              <a:rPr lang="ko-KR" altLang="en-US" dirty="0" err="1"/>
              <a:t>작이지며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MAE </a:t>
            </a:r>
            <a:r>
              <a:rPr lang="ko-KR" altLang="en-US" dirty="0"/>
              <a:t>값이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기존 모델과 유사한 것을 확인할 수 있는데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이는 </a:t>
            </a:r>
            <a:r>
              <a:rPr lang="en-US" altLang="ko-KR" dirty="0"/>
              <a:t>dropout</a:t>
            </a:r>
            <a:r>
              <a:rPr lang="ko-KR" altLang="en-US" dirty="0"/>
              <a:t>이 거의 적용되지 않아 기존 모델과 유사하기 때문이라고 해석됩니다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825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시계열 모델링입니다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7886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191A-1771-62AF-2702-C5708E69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7C6798-BB3D-5160-1C09-B0087F190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2AD86-D20C-F03A-DDC1-2D3710B07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단일 시점 이미지만을 고려하여 모델링하는 방식에서 나아가</a:t>
            </a:r>
            <a:endParaRPr lang="en-US" altLang="ko-KR" dirty="0"/>
          </a:p>
          <a:p>
            <a:r>
              <a:rPr lang="ko-KR" altLang="en-US" dirty="0"/>
              <a:t>과거 시점 정보까지 함께 반영하여 모델링하였습니다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본 실험에서는 세 시점의 작물 이미지를 </a:t>
            </a:r>
            <a:r>
              <a:rPr lang="en-US" altLang="ko-KR" dirty="0"/>
              <a:t>input</a:t>
            </a:r>
            <a:r>
              <a:rPr lang="ko-KR" altLang="en-US" dirty="0"/>
              <a:t>으로 넣어 마지막 시점의 작물 이미지의 생육일자를 모델을 구성하였습니다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/>
              <a:t>이를 통해 작물의 </a:t>
            </a:r>
            <a:r>
              <a:rPr lang="ko-KR" altLang="en-US" dirty="0"/>
              <a:t>시계열적 성장 과정을 반영함으로써 생육 지표 예측 성능이 향상될 것이라 기대하였습니다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7F727-7D9C-7E59-BC5B-DAD105685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796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모델과 동일하게 학습 </a:t>
            </a:r>
            <a:r>
              <a:rPr lang="en-US" altLang="ko-KR" dirty="0"/>
              <a:t>data</a:t>
            </a:r>
            <a:r>
              <a:rPr lang="ko-KR" altLang="en-US" dirty="0"/>
              <a:t>를 사용했을 경우 아래 표와 같이</a:t>
            </a:r>
            <a:endParaRPr lang="en-US" altLang="ko-KR" dirty="0"/>
          </a:p>
          <a:p>
            <a:r>
              <a:rPr lang="ko-KR" altLang="en-US" dirty="0"/>
              <a:t>모든 작물</a:t>
            </a:r>
            <a:r>
              <a:rPr lang="en-US" altLang="ko-KR" dirty="0"/>
              <a:t>, </a:t>
            </a:r>
            <a:r>
              <a:rPr lang="ko-KR" altLang="en-US" dirty="0"/>
              <a:t>모든 성능지표에 대해 기존 방법론보다 성능이 저하됨을 확인할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이를 </a:t>
            </a:r>
            <a:r>
              <a:rPr lang="en-US" altLang="ko-KR" dirty="0"/>
              <a:t>train dataset</a:t>
            </a:r>
            <a:r>
              <a:rPr lang="ko-KR" altLang="en-US" dirty="0"/>
              <a:t>의 </a:t>
            </a:r>
            <a:r>
              <a:rPr lang="en-US" altLang="ko-KR" dirty="0"/>
              <a:t>window </a:t>
            </a:r>
            <a:r>
              <a:rPr lang="ko-KR" altLang="en-US" dirty="0"/>
              <a:t>구성이 </a:t>
            </a:r>
            <a:r>
              <a:rPr lang="en-US" altLang="ko-KR" dirty="0"/>
              <a:t>test dataset</a:t>
            </a:r>
            <a:r>
              <a:rPr lang="ko-KR" altLang="en-US" dirty="0"/>
              <a:t>의 </a:t>
            </a:r>
            <a:r>
              <a:rPr lang="en-US" altLang="ko-KR" dirty="0"/>
              <a:t>window </a:t>
            </a:r>
            <a:r>
              <a:rPr lang="ko-KR" altLang="en-US" dirty="0"/>
              <a:t>구성과 다르기 때문이라고 판단하였습니다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구체적으로 </a:t>
            </a:r>
            <a:r>
              <a:rPr lang="en-US" altLang="ko-KR" dirty="0"/>
              <a:t>train dataset</a:t>
            </a:r>
            <a:r>
              <a:rPr lang="ko-KR" altLang="en-US" dirty="0"/>
              <a:t>의 경우 한 날짜에 대해 두 시점의 이미지로 구성되어 있으나 </a:t>
            </a:r>
            <a:endParaRPr lang="en-US" altLang="ko-KR" dirty="0"/>
          </a:p>
          <a:p>
            <a:r>
              <a:rPr lang="en-US" altLang="ko-KR" dirty="0"/>
              <a:t>test dataset</a:t>
            </a:r>
            <a:r>
              <a:rPr lang="ko-KR" altLang="en-US" dirty="0"/>
              <a:t>의 경우 한 날짜에 대해 한 시점의 이미지로 구성되어 있어 </a:t>
            </a:r>
            <a:r>
              <a:rPr lang="en-US" altLang="ko-KR" dirty="0"/>
              <a:t>window </a:t>
            </a:r>
            <a:r>
              <a:rPr lang="ko-KR" altLang="en-US" dirty="0"/>
              <a:t>구성이 다를 수 밖에 없게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이에 대해선 다음 슬라이드에 그림과 함께 좀 더 자세히 </a:t>
            </a:r>
            <a:r>
              <a:rPr lang="ko-KR" altLang="en-US" dirty="0" err="1"/>
              <a:t>설명드리도록</a:t>
            </a:r>
            <a:r>
              <a:rPr lang="ko-KR" altLang="en-US" dirty="0"/>
              <a:t>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test dataset</a:t>
            </a:r>
            <a:r>
              <a:rPr lang="ko-KR" altLang="en-US" dirty="0"/>
              <a:t>과 동일한 </a:t>
            </a:r>
            <a:r>
              <a:rPr lang="en-US" altLang="ko-KR" dirty="0"/>
              <a:t>window </a:t>
            </a:r>
            <a:r>
              <a:rPr lang="ko-KR" altLang="en-US" dirty="0"/>
              <a:t>구성을 갖도록 </a:t>
            </a:r>
            <a:r>
              <a:rPr lang="en-US" altLang="ko-KR" dirty="0"/>
              <a:t>train dataset</a:t>
            </a:r>
            <a:r>
              <a:rPr lang="ko-KR" altLang="en-US" dirty="0"/>
              <a:t>을 조정하여 또 다른 실험을 진행하였습니다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981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 데이터를 모두 사용한 실험 </a:t>
            </a:r>
            <a:r>
              <a:rPr lang="en-US" altLang="ko-KR" dirty="0"/>
              <a:t>1</a:t>
            </a:r>
            <a:r>
              <a:rPr lang="ko-KR" altLang="en-US" dirty="0"/>
              <a:t>의 경우 좌측 그림과 같이 </a:t>
            </a:r>
            <a:endParaRPr lang="en-US" altLang="ko-KR" dirty="0"/>
          </a:p>
          <a:p>
            <a:r>
              <a:rPr lang="en-US" altLang="ko-KR" dirty="0"/>
              <a:t>Train dataset</a:t>
            </a:r>
            <a:r>
              <a:rPr lang="ko-KR" altLang="en-US" dirty="0"/>
              <a:t>의 경우 </a:t>
            </a:r>
            <a:r>
              <a:rPr lang="en-US" altLang="ko-KR" dirty="0"/>
              <a:t>window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일차</a:t>
            </a:r>
            <a:r>
              <a:rPr lang="en-US" altLang="ko-KR" dirty="0"/>
              <a:t> 2</a:t>
            </a:r>
            <a:r>
              <a:rPr lang="ko-KR" altLang="en-US" dirty="0"/>
              <a:t>장</a:t>
            </a:r>
            <a:r>
              <a:rPr lang="en-US" altLang="ko-KR" dirty="0"/>
              <a:t>, 2</a:t>
            </a:r>
            <a:r>
              <a:rPr lang="ko-KR" altLang="en-US" dirty="0"/>
              <a:t>일차 </a:t>
            </a:r>
            <a:r>
              <a:rPr lang="en-US" altLang="ko-KR" dirty="0"/>
              <a:t>1</a:t>
            </a:r>
            <a:r>
              <a:rPr lang="ko-KR" altLang="en-US" dirty="0"/>
              <a:t>장으로 구성되어 있는 반면 </a:t>
            </a:r>
            <a:endParaRPr lang="en-US" altLang="ko-KR" dirty="0"/>
          </a:p>
          <a:p>
            <a:r>
              <a:rPr lang="en-US" altLang="ko-KR" dirty="0"/>
              <a:t>Test dataset</a:t>
            </a:r>
            <a:r>
              <a:rPr lang="ko-KR" altLang="en-US" dirty="0"/>
              <a:t>의 경우 </a:t>
            </a:r>
            <a:r>
              <a:rPr lang="en-US" altLang="ko-KR" dirty="0"/>
              <a:t>1,2,3</a:t>
            </a:r>
            <a:r>
              <a:rPr lang="ko-KR" altLang="en-US" dirty="0"/>
              <a:t>일차 각 </a:t>
            </a:r>
            <a:r>
              <a:rPr lang="en-US" altLang="ko-KR" dirty="0"/>
              <a:t>1</a:t>
            </a:r>
            <a:r>
              <a:rPr lang="ko-KR" altLang="en-US" dirty="0"/>
              <a:t>장씩 총 </a:t>
            </a:r>
            <a:r>
              <a:rPr lang="en-US" altLang="ko-KR" dirty="0"/>
              <a:t>3</a:t>
            </a:r>
            <a:r>
              <a:rPr lang="ko-KR" altLang="en-US" dirty="0"/>
              <a:t>장으로 구성되어 있는 것을 확인할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window </a:t>
            </a:r>
            <a:r>
              <a:rPr lang="ko-KR" altLang="en-US" dirty="0"/>
              <a:t>구성을 동일하게 맞추고자 </a:t>
            </a:r>
            <a:r>
              <a:rPr lang="en-US" altLang="ko-KR" dirty="0"/>
              <a:t>train dataset</a:t>
            </a:r>
            <a:r>
              <a:rPr lang="ko-KR" altLang="en-US" dirty="0"/>
              <a:t>의 각 일자의 가장 마지막 시점의 이미지만 학습 데이터로 사용하여</a:t>
            </a:r>
            <a:endParaRPr lang="en-US" altLang="ko-KR" dirty="0"/>
          </a:p>
          <a:p>
            <a:r>
              <a:rPr lang="en-US" altLang="ko-KR" dirty="0"/>
              <a:t>Test dataset</a:t>
            </a:r>
            <a:r>
              <a:rPr lang="ko-KR" altLang="en-US" dirty="0"/>
              <a:t>과 </a:t>
            </a:r>
            <a:r>
              <a:rPr lang="en-US" altLang="ko-KR" dirty="0"/>
              <a:t>window </a:t>
            </a:r>
            <a:r>
              <a:rPr lang="ko-KR" altLang="en-US" dirty="0"/>
              <a:t>구성을 동일하게 하였고</a:t>
            </a:r>
            <a:r>
              <a:rPr lang="en-US" altLang="ko-KR" dirty="0"/>
              <a:t>, </a:t>
            </a:r>
            <a:r>
              <a:rPr lang="ko-KR" altLang="en-US" dirty="0"/>
              <a:t>실험을 진행하였습니다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761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결과는 다음과 같습니다</a:t>
            </a:r>
            <a:endParaRPr lang="en-US" altLang="ko-KR" dirty="0"/>
          </a:p>
          <a:p>
            <a:r>
              <a:rPr lang="ko-KR" altLang="en-US" dirty="0"/>
              <a:t>학습 데이터를 모두 사용한 실험 </a:t>
            </a:r>
            <a:r>
              <a:rPr lang="en-US" altLang="ko-KR" dirty="0"/>
              <a:t>1</a:t>
            </a:r>
            <a:r>
              <a:rPr lang="ko-KR" altLang="en-US" dirty="0"/>
              <a:t>보다는 성능 개선이 이뤄졌으나</a:t>
            </a:r>
            <a:endParaRPr lang="en-US" altLang="ko-KR" dirty="0"/>
          </a:p>
          <a:p>
            <a:r>
              <a:rPr lang="ko-KR" altLang="en-US" dirty="0"/>
              <a:t>기존 모델보다는 여전히 성능이 떨어졌습니다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스케일이 날짜로 모두 동일하기에 </a:t>
            </a:r>
            <a:r>
              <a:rPr lang="en-US" altLang="ko-KR" dirty="0"/>
              <a:t>MAPE</a:t>
            </a:r>
            <a:r>
              <a:rPr lang="ko-KR" altLang="en-US" dirty="0"/>
              <a:t>보다는 </a:t>
            </a:r>
            <a:r>
              <a:rPr lang="en-US" altLang="ko-KR" dirty="0"/>
              <a:t>MAE </a:t>
            </a:r>
            <a:r>
              <a:rPr lang="ko-KR" altLang="en-US" dirty="0"/>
              <a:t>지표를 우선적으로 보고 해석을 진행했습니다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Test data</a:t>
            </a:r>
            <a:r>
              <a:rPr lang="ko-KR" altLang="en-US" dirty="0"/>
              <a:t>와 동일한 </a:t>
            </a:r>
            <a:r>
              <a:rPr lang="en-US" altLang="ko-KR" dirty="0"/>
              <a:t>window </a:t>
            </a:r>
            <a:r>
              <a:rPr lang="ko-KR" altLang="en-US" dirty="0"/>
              <a:t>구성으로 학습을 진행하였기에 이전 실험보다 성능이 개선되었다고 해석됩니다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기존 학습 </a:t>
            </a:r>
            <a:r>
              <a:rPr lang="en-US" altLang="ko-KR" dirty="0"/>
              <a:t>data</a:t>
            </a:r>
            <a:r>
              <a:rPr lang="ko-KR" altLang="en-US" dirty="0"/>
              <a:t>에 비해 절반 수준의 학습 </a:t>
            </a:r>
            <a:r>
              <a:rPr lang="en-US" altLang="ko-KR" dirty="0"/>
              <a:t>data</a:t>
            </a:r>
            <a:r>
              <a:rPr lang="ko-KR" altLang="en-US" dirty="0"/>
              <a:t>를 가지고 학습을 진행하였기에 충분한 학습이 되지 않아</a:t>
            </a:r>
            <a:endParaRPr lang="en-US" altLang="ko-KR" dirty="0"/>
          </a:p>
          <a:p>
            <a:r>
              <a:rPr lang="ko-KR" altLang="en-US" dirty="0"/>
              <a:t>기존 방법론보다 성능이 저하되었다고 해석됩니다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872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나아가 시각화를 진행하였습니다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기존모델과 </a:t>
            </a:r>
            <a:r>
              <a:rPr lang="en-US" altLang="ko-KR" dirty="0"/>
              <a:t>3DCNN </a:t>
            </a:r>
            <a:r>
              <a:rPr lang="ko-KR" altLang="en-US" dirty="0"/>
              <a:t>두 모델에 대해 로메인 작물 </a:t>
            </a:r>
            <a:r>
              <a:rPr lang="en-US" altLang="ko-KR" dirty="0"/>
              <a:t>True label </a:t>
            </a:r>
            <a:r>
              <a:rPr lang="ko-KR" altLang="en-US" dirty="0"/>
              <a:t>별 </a:t>
            </a:r>
            <a:r>
              <a:rPr lang="en-US" altLang="ko-KR" dirty="0"/>
              <a:t>difference</a:t>
            </a:r>
            <a:r>
              <a:rPr lang="ko-KR" altLang="en-US" dirty="0"/>
              <a:t>를 시각화한 그래프는 아래와 같습니다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전반적으로 두 모델 모두 비슷한 양상을 띄나 </a:t>
            </a:r>
            <a:r>
              <a:rPr lang="en-US" altLang="ko-KR" dirty="0"/>
              <a:t>True label 11</a:t>
            </a:r>
            <a:r>
              <a:rPr lang="ko-KR" altLang="en-US" dirty="0"/>
              <a:t>의 경우 예측 성능이 크게 저하됨을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2621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한 눈에 알아보기 쉽도록 </a:t>
            </a:r>
            <a:r>
              <a:rPr lang="en-US" altLang="ko-KR" dirty="0"/>
              <a:t>true label </a:t>
            </a:r>
            <a:r>
              <a:rPr lang="ko-KR" altLang="en-US" dirty="0"/>
              <a:t>별 </a:t>
            </a:r>
            <a:r>
              <a:rPr lang="en-US" altLang="ko-KR" dirty="0"/>
              <a:t>mean difference </a:t>
            </a:r>
            <a:r>
              <a:rPr lang="ko-KR" altLang="en-US" dirty="0"/>
              <a:t>시각화도 진행해보았습니다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이를 통해 </a:t>
            </a:r>
            <a:r>
              <a:rPr lang="en-US" altLang="ko-KR" dirty="0"/>
              <a:t>3d </a:t>
            </a:r>
            <a:r>
              <a:rPr lang="en-US" altLang="ko-KR" dirty="0" err="1"/>
              <a:t>cnn</a:t>
            </a:r>
            <a:r>
              <a:rPr lang="ko-KR" altLang="en-US" dirty="0"/>
              <a:t>이 기존 모델보다 대부분 </a:t>
            </a:r>
            <a:r>
              <a:rPr lang="en-US" altLang="ko-KR" dirty="0"/>
              <a:t>mean difference </a:t>
            </a:r>
            <a:r>
              <a:rPr lang="ko-KR" altLang="en-US" dirty="0"/>
              <a:t>값이 더 작은 것을 확인할 수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true label</a:t>
            </a:r>
            <a:r>
              <a:rPr lang="ko-KR" altLang="en-US" dirty="0"/>
              <a:t>보다 더 작게 예측하는 경향이 커졌다고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3d </a:t>
            </a:r>
            <a:r>
              <a:rPr lang="en-US" altLang="ko-KR" dirty="0" err="1"/>
              <a:t>cnn</a:t>
            </a:r>
            <a:r>
              <a:rPr lang="en-US" altLang="ko-KR" dirty="0"/>
              <a:t> </a:t>
            </a:r>
            <a:r>
              <a:rPr lang="ko-KR" altLang="en-US" dirty="0"/>
              <a:t>모델 자체의 문제인지 의문이 생겼고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719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확인하기 위해 </a:t>
            </a:r>
            <a:r>
              <a:rPr lang="en-US" altLang="ko-KR" dirty="0"/>
              <a:t>Plant number </a:t>
            </a:r>
            <a:r>
              <a:rPr lang="ko-KR" altLang="en-US" dirty="0"/>
              <a:t>별 예측 값 시각화를 진행하였습니다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모든 작물에 대해 </a:t>
            </a:r>
            <a:r>
              <a:rPr lang="en-US" altLang="ko-KR" dirty="0"/>
              <a:t>prediction </a:t>
            </a:r>
            <a:r>
              <a:rPr lang="ko-KR" altLang="en-US" dirty="0"/>
              <a:t>값이 지속적으로 감소하는 경향은 살펴볼 수 없었기에</a:t>
            </a:r>
            <a:endParaRPr lang="en-US" altLang="ko-KR" dirty="0"/>
          </a:p>
          <a:p>
            <a:r>
              <a:rPr lang="en-US" altLang="ko-KR" dirty="0"/>
              <a:t>3d </a:t>
            </a:r>
            <a:r>
              <a:rPr lang="en-US" altLang="ko-KR" dirty="0" err="1"/>
              <a:t>cnn</a:t>
            </a:r>
            <a:r>
              <a:rPr lang="en-US" altLang="ko-KR" dirty="0"/>
              <a:t> </a:t>
            </a:r>
            <a:r>
              <a:rPr lang="ko-KR" altLang="en-US" dirty="0"/>
              <a:t>모델 자체의 문제는 아니라고 판단하였습니다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대신 학습 데이터 수 부족</a:t>
            </a:r>
            <a:r>
              <a:rPr lang="en-US" altLang="ko-KR" dirty="0"/>
              <a:t>, </a:t>
            </a:r>
            <a:r>
              <a:rPr lang="ko-KR" altLang="en-US" dirty="0"/>
              <a:t>작물 데이터의 가려짐 현상과 같은 데이터의 한계 때문에 성능이 저하되었다고 생각합니다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6351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버터헤드도 동일하게 </a:t>
            </a:r>
            <a:r>
              <a:rPr lang="en-US" altLang="ko-KR" dirty="0"/>
              <a:t>true label </a:t>
            </a:r>
            <a:r>
              <a:rPr lang="ko-KR" altLang="en-US" dirty="0"/>
              <a:t>별 </a:t>
            </a:r>
            <a:r>
              <a:rPr lang="en-US" altLang="ko-KR" dirty="0"/>
              <a:t>difference </a:t>
            </a:r>
            <a:r>
              <a:rPr lang="ko-KR" altLang="en-US" dirty="0"/>
              <a:t>시각화를 진행하였습니다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마찬가지로 두 모델이 비슷한 양상을 띄나 </a:t>
            </a:r>
            <a:r>
              <a:rPr lang="en-US" altLang="ko-KR" dirty="0"/>
              <a:t>label number</a:t>
            </a:r>
            <a:r>
              <a:rPr lang="ko-KR" altLang="en-US" dirty="0"/>
              <a:t>가 커질수록 성능 저하 현상이 두드러지는 것을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566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로메인과 동일하게 기존 모델보다 </a:t>
            </a:r>
            <a:r>
              <a:rPr lang="en-US" altLang="ko-KR" dirty="0"/>
              <a:t>mean difference </a:t>
            </a:r>
            <a:r>
              <a:rPr lang="ko-KR" altLang="en-US" dirty="0"/>
              <a:t>값이 더 작은 것을 확인할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작물에 관계 없이 </a:t>
            </a:r>
            <a:r>
              <a:rPr lang="en-US" altLang="ko-KR" dirty="0"/>
              <a:t>true label</a:t>
            </a:r>
            <a:r>
              <a:rPr lang="ko-KR" altLang="en-US" dirty="0"/>
              <a:t>보다 더 작게 예측하는 경향이 큼을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559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또한 모든 작물에 대해 </a:t>
            </a:r>
            <a:r>
              <a:rPr lang="en-US" altLang="ko-KR" dirty="0"/>
              <a:t>prediction </a:t>
            </a:r>
            <a:r>
              <a:rPr lang="ko-KR" altLang="en-US" dirty="0"/>
              <a:t>값이 선형적으로 증가하는 형태를 띄기에 </a:t>
            </a:r>
            <a:endParaRPr lang="en-US" altLang="ko-KR" dirty="0"/>
          </a:p>
          <a:p>
            <a:r>
              <a:rPr lang="ko-KR" altLang="en-US" dirty="0"/>
              <a:t>모델 자체의 문제가 아님을 다시 한 번 확인할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그러나 </a:t>
            </a:r>
            <a:r>
              <a:rPr lang="en-US" altLang="ko-KR" dirty="0"/>
              <a:t>R5 </a:t>
            </a:r>
            <a:r>
              <a:rPr lang="ko-KR" altLang="en-US" dirty="0"/>
              <a:t>작물의 경우 감소하는 경향이 타 작물에 비해 두드러지기에 감소하는 구간에 있는 시점의 작물들을 관찰하였습니다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636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관찰 결과 작물이 자라남에 따라 일자별 작물의 크기가 증가할 것이라는 예상과는 다르게</a:t>
            </a:r>
            <a:endParaRPr lang="en-US" altLang="ko-KR" dirty="0"/>
          </a:p>
          <a:p>
            <a:r>
              <a:rPr lang="ko-KR" altLang="en-US" dirty="0"/>
              <a:t>가려진 작물의 사진이 </a:t>
            </a:r>
            <a:r>
              <a:rPr lang="en-US" altLang="ko-KR" dirty="0"/>
              <a:t>input</a:t>
            </a:r>
            <a:r>
              <a:rPr lang="ko-KR" altLang="en-US" dirty="0"/>
              <a:t>으로 들어간 것을 확인할 수 있었습니다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712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29CC-E1F4-526A-3DD3-D3FD3D62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EC39C0-247F-168B-F367-91FFEC4D6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E410EE-8DA8-A14D-8311-1A69CFE41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 결론입니다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불확실성입니다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Inference </a:t>
            </a:r>
            <a:r>
              <a:rPr lang="ko-KR" altLang="en-US" dirty="0"/>
              <a:t>시 </a:t>
            </a:r>
            <a:r>
              <a:rPr lang="en-US" altLang="ko-KR" dirty="0"/>
              <a:t>dropout rate</a:t>
            </a:r>
            <a:r>
              <a:rPr lang="ko-KR" altLang="en-US" dirty="0"/>
              <a:t>가 올라갈수록 불확실성 값은 증가하고</a:t>
            </a:r>
            <a:r>
              <a:rPr lang="en-US" altLang="ko-KR" dirty="0"/>
              <a:t>, </a:t>
            </a:r>
            <a:r>
              <a:rPr lang="en-US" altLang="ko-KR" dirty="0" err="1"/>
              <a:t>mae</a:t>
            </a:r>
            <a:r>
              <a:rPr lang="ko-KR" altLang="en-US" dirty="0"/>
              <a:t>는 감소함을 확인할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en-US" altLang="ko-KR" dirty="0"/>
              <a:t>3D CNN</a:t>
            </a:r>
            <a:r>
              <a:rPr lang="ko-KR" altLang="en-US" dirty="0"/>
              <a:t>과 </a:t>
            </a:r>
            <a:r>
              <a:rPr lang="en-US" altLang="ko-KR" dirty="0"/>
              <a:t>2D CNN</a:t>
            </a:r>
            <a:r>
              <a:rPr lang="ko-KR" altLang="en-US" dirty="0"/>
              <a:t>의 비교입니다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예상과는 다르게 </a:t>
            </a:r>
            <a:r>
              <a:rPr lang="en-US" altLang="ko-KR" dirty="0"/>
              <a:t>3D CNN</a:t>
            </a:r>
            <a:r>
              <a:rPr lang="ko-KR" altLang="en-US" dirty="0"/>
              <a:t>의 경우 기존 방법론보다 성능이 저하됨을 확인할 수 있었습니다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이는 크게 세 가지 원인으로 해석됩니다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째</a:t>
            </a:r>
            <a:r>
              <a:rPr lang="en-US" altLang="ko-KR" dirty="0"/>
              <a:t>, </a:t>
            </a:r>
            <a:r>
              <a:rPr lang="ko-KR" altLang="en-US" dirty="0"/>
              <a:t>학습 데이터의 수 부족 </a:t>
            </a:r>
            <a:endParaRPr lang="en-US" altLang="ko-KR" dirty="0"/>
          </a:p>
          <a:p>
            <a:r>
              <a:rPr lang="en-US" altLang="ko-KR" dirty="0"/>
              <a:t>Train, test </a:t>
            </a:r>
            <a:r>
              <a:rPr lang="en-US" altLang="ko-KR" dirty="0" err="1"/>
              <a:t>datset</a:t>
            </a:r>
            <a:r>
              <a:rPr lang="ko-KR" altLang="en-US" dirty="0"/>
              <a:t>의 </a:t>
            </a:r>
            <a:r>
              <a:rPr lang="en-US" altLang="ko-KR" dirty="0"/>
              <a:t>Window </a:t>
            </a:r>
            <a:r>
              <a:rPr lang="ko-KR" altLang="en-US" dirty="0"/>
              <a:t>구성을 동일하게 하는 과정에서 학습 데이터의 수가 절반으로 감소하였습니다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 째</a:t>
            </a:r>
            <a:r>
              <a:rPr lang="en-US" altLang="ko-KR" dirty="0"/>
              <a:t>, </a:t>
            </a:r>
            <a:r>
              <a:rPr lang="ko-KR" altLang="en-US" dirty="0"/>
              <a:t>학습 데이터의 변형</a:t>
            </a:r>
            <a:endParaRPr lang="en-US" altLang="ko-KR" dirty="0"/>
          </a:p>
          <a:p>
            <a:r>
              <a:rPr lang="ko-KR" altLang="en-US" dirty="0"/>
              <a:t>가려진 작물 </a:t>
            </a:r>
            <a:r>
              <a:rPr lang="en-US" altLang="ko-KR" dirty="0"/>
              <a:t>image</a:t>
            </a:r>
            <a:r>
              <a:rPr lang="ko-KR" altLang="en-US" dirty="0"/>
              <a:t>가 그대로 학습 </a:t>
            </a:r>
            <a:r>
              <a:rPr lang="en-US" altLang="ko-KR" dirty="0"/>
              <a:t>data</a:t>
            </a:r>
            <a:r>
              <a:rPr lang="ko-KR" altLang="en-US" dirty="0"/>
              <a:t>로 사용됩니다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셋 째</a:t>
            </a:r>
            <a:r>
              <a:rPr lang="en-US" altLang="ko-KR" dirty="0"/>
              <a:t>, </a:t>
            </a:r>
            <a:r>
              <a:rPr lang="ko-KR" altLang="en-US" dirty="0"/>
              <a:t>학습 데이터 </a:t>
            </a:r>
            <a:r>
              <a:rPr lang="en-US" altLang="ko-KR" dirty="0"/>
              <a:t>1</a:t>
            </a:r>
            <a:r>
              <a:rPr lang="ko-KR" altLang="en-US" dirty="0"/>
              <a:t>개가 아닌 </a:t>
            </a:r>
            <a:r>
              <a:rPr lang="en-US" altLang="ko-KR" dirty="0"/>
              <a:t>3</a:t>
            </a:r>
            <a:r>
              <a:rPr lang="ko-KR" altLang="en-US" dirty="0"/>
              <a:t>개가 </a:t>
            </a:r>
            <a:r>
              <a:rPr lang="en-US" altLang="ko-KR" dirty="0"/>
              <a:t>input</a:t>
            </a:r>
            <a:r>
              <a:rPr lang="ko-KR" altLang="en-US" dirty="0"/>
              <a:t>으로 사용</a:t>
            </a:r>
            <a:endParaRPr lang="en-US" altLang="ko-KR" dirty="0"/>
          </a:p>
          <a:p>
            <a:r>
              <a:rPr lang="ko-KR" altLang="en-US" dirty="0"/>
              <a:t>모델이 작물이 가려지는 경향을 더 잘 학습하여 기존 모델보다 </a:t>
            </a:r>
            <a:r>
              <a:rPr lang="en-US" altLang="ko-KR" dirty="0"/>
              <a:t>mead difference</a:t>
            </a:r>
            <a:r>
              <a:rPr lang="ko-KR" altLang="en-US" dirty="0"/>
              <a:t>가 낮게 나온 것으로 해석됩니다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82E76C-4C2C-20EB-5A46-58611E0ED4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3155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9F2B-EE05-B875-4029-0DDF29AF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DE5178-37BF-FA93-A980-1363164B0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818FAB-BE2F-1EA0-3FCA-F6C06012C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인턴생활 후기입니다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인턴 활동을 통해 </a:t>
            </a:r>
            <a:r>
              <a:rPr lang="en-US" altLang="ko-KR" dirty="0"/>
              <a:t>vision ai</a:t>
            </a:r>
            <a:r>
              <a:rPr lang="ko-KR" altLang="en-US" dirty="0"/>
              <a:t>라는 알지 못했던 부분에 대해 조금이나마 배울 수 있는 계기가 되었고</a:t>
            </a:r>
            <a:r>
              <a:rPr lang="en-US" altLang="ko-KR" dirty="0"/>
              <a:t>, </a:t>
            </a:r>
            <a:r>
              <a:rPr lang="ko-KR" altLang="en-US" dirty="0"/>
              <a:t>다양한 모델 구현 및 학습 방법에 대해 배울 수 있는</a:t>
            </a:r>
            <a:endParaRPr lang="en-US" altLang="ko-KR" dirty="0"/>
          </a:p>
          <a:p>
            <a:r>
              <a:rPr lang="ko-KR" altLang="en-US" dirty="0"/>
              <a:t>시간이었습니다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실제 기업 프로젝트를 </a:t>
            </a:r>
            <a:r>
              <a:rPr lang="ko-KR" altLang="en-US" dirty="0" err="1"/>
              <a:t>간접적으로나마</a:t>
            </a:r>
            <a:r>
              <a:rPr lang="ko-KR" altLang="en-US" dirty="0"/>
              <a:t> 경험할 수 있었고</a:t>
            </a:r>
            <a:r>
              <a:rPr lang="en-US" altLang="ko-KR" dirty="0"/>
              <a:t>. </a:t>
            </a:r>
            <a:r>
              <a:rPr lang="ko-KR" altLang="en-US" dirty="0"/>
              <a:t>문제 해결 능력과 문제를 바라보는 다양한 시각을 기를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</a:t>
            </a:r>
            <a:r>
              <a:rPr lang="en-US" altLang="ko-KR" dirty="0"/>
              <a:t>2</a:t>
            </a:r>
            <a:r>
              <a:rPr lang="ko-KR" altLang="en-US" dirty="0"/>
              <a:t>주마다 한 번씩 연구 진행 방향을 </a:t>
            </a:r>
            <a:r>
              <a:rPr lang="ko-KR" altLang="en-US" dirty="0" err="1"/>
              <a:t>잡아주신</a:t>
            </a:r>
            <a:r>
              <a:rPr lang="ko-KR" altLang="en-US" dirty="0"/>
              <a:t> 연구원님들께 감사드리고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이번 학기 인턴이라는 좋은 기회를 제공해주신 교수님께도 감사드립니다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이상으로 발표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90FA5-25E7-8EEB-776D-071FD7131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FD887-650B-406D-92A0-EFDFBED57BC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779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7B654272-7A66-4A6F-864A-EA72F05A36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3" y="6579724"/>
            <a:ext cx="1116114" cy="238147"/>
          </a:xfrm>
          <a:prstGeom prst="rect">
            <a:avLst/>
          </a:prstGeom>
        </p:spPr>
      </p:pic>
      <p:cxnSp>
        <p:nvCxnSpPr>
          <p:cNvPr id="6" name="직선 연결선 5"/>
          <p:cNvCxnSpPr/>
          <p:nvPr userDrawn="1"/>
        </p:nvCxnSpPr>
        <p:spPr>
          <a:xfrm>
            <a:off x="517396" y="1412776"/>
            <a:ext cx="8109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517396" y="3652809"/>
            <a:ext cx="81092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6433130" y="3652809"/>
            <a:ext cx="2193474" cy="0"/>
          </a:xfrm>
          <a:prstGeom prst="line">
            <a:avLst/>
          </a:prstGeom>
          <a:ln w="38100">
            <a:solidFill>
              <a:srgbClr val="EC89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J제일제당, 소비 트랜드 변화 속 주도권 잡을 것... 목표가↑” | 서울경제">
            <a:extLst>
              <a:ext uri="{FF2B5EF4-FFF2-40B4-BE49-F238E27FC236}">
                <a16:creationId xmlns:a16="http://schemas.microsoft.com/office/drawing/2014/main" id="{3CBE1B03-D6B3-26A4-BB71-2B05B91EF4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600" y="6483682"/>
            <a:ext cx="1010040" cy="39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28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5"/>
          <p:cNvSpPr>
            <a:spLocks noChangeArrowheads="1"/>
          </p:cNvSpPr>
          <p:nvPr userDrawn="1"/>
        </p:nvSpPr>
        <p:spPr bwMode="auto">
          <a:xfrm>
            <a:off x="4247628" y="6571411"/>
            <a:ext cx="668696" cy="25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4071" tIns="42036" rIns="84071" bIns="42036" anchor="ctr"/>
          <a:lstStyle/>
          <a:p>
            <a:pPr algn="ctr" defTabSz="840138" latinLnBrk="0">
              <a:defRPr/>
            </a:pPr>
            <a:fld id="{212C3769-E4A2-4B9E-9272-6BE5FA27782E}" type="slidenum">
              <a:rPr lang="en-US" altLang="ko-KR" sz="1200" b="1" kern="0" smtClean="0">
                <a:solidFill>
                  <a:schemeClr val="tx1"/>
                </a:solidFill>
                <a:latin typeface="맑은 고딕" panose="020B0503020000020004" pitchFamily="50" charset="-127"/>
                <a:ea typeface="KoPub돋움체 Medium" panose="02020603020101020101"/>
              </a:rPr>
              <a:pPr algn="ctr" defTabSz="840138" latinLnBrk="0">
                <a:defRPr/>
              </a:pPr>
              <a:t>‹#›</a:t>
            </a:fld>
            <a:endParaRPr lang="en-US" altLang="ko-KR" sz="1200" b="1" kern="0" dirty="0">
              <a:solidFill>
                <a:schemeClr val="tx1"/>
              </a:solidFill>
              <a:latin typeface="맑은 고딕" panose="020B0503020000020004" pitchFamily="50" charset="-127"/>
              <a:ea typeface="KoPub돋움체 Medium" panose="02020603020101020101"/>
            </a:endParaRPr>
          </a:p>
        </p:txBody>
      </p:sp>
      <p:cxnSp>
        <p:nvCxnSpPr>
          <p:cNvPr id="57" name="직선 연결선 56"/>
          <p:cNvCxnSpPr/>
          <p:nvPr userDrawn="1"/>
        </p:nvCxnSpPr>
        <p:spPr>
          <a:xfrm>
            <a:off x="254529" y="744363"/>
            <a:ext cx="8638011" cy="100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 userDrawn="1"/>
        </p:nvCxnSpPr>
        <p:spPr>
          <a:xfrm>
            <a:off x="254529" y="17092"/>
            <a:ext cx="778720" cy="0"/>
          </a:xfrm>
          <a:prstGeom prst="line">
            <a:avLst/>
          </a:prstGeom>
          <a:ln w="38100">
            <a:solidFill>
              <a:srgbClr val="EC89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 userDrawn="1"/>
        </p:nvCxnSpPr>
        <p:spPr>
          <a:xfrm>
            <a:off x="45976" y="6503259"/>
            <a:ext cx="90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254529" y="228707"/>
            <a:ext cx="6546462" cy="468000"/>
          </a:xfrm>
        </p:spPr>
        <p:txBody>
          <a:bodyPr anchor="ctr">
            <a:noAutofit/>
          </a:bodyPr>
          <a:lstStyle>
            <a:lvl1pPr marL="0" indent="0" algn="l">
              <a:buFontTx/>
              <a:buNone/>
              <a:defRPr lang="ko-KR" altLang="en-US" sz="2800" b="1" kern="1200" spc="-132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22041" indent="0">
              <a:buFontTx/>
              <a:buNone/>
              <a:defRPr/>
            </a:lvl2pPr>
            <a:lvl3pPr marL="844083" indent="0">
              <a:buFontTx/>
              <a:buNone/>
              <a:defRPr/>
            </a:lvl3pPr>
            <a:lvl4pPr marL="1266124" indent="0">
              <a:buFontTx/>
              <a:buNone/>
              <a:defRPr/>
            </a:lvl4pPr>
            <a:lvl5pPr marL="1688165" indent="0">
              <a:buFontTx/>
              <a:buNone/>
              <a:defRPr/>
            </a:lvl5pPr>
          </a:lstStyle>
          <a:p>
            <a:pPr marL="0" lvl="0" algn="l" defTabSz="844083" rtl="0" eaLnBrk="1" latin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ko-KR" altLang="en-US" dirty="0"/>
              <a:t>제목을 입력하십시오</a:t>
            </a:r>
            <a:r>
              <a:rPr lang="en-US" altLang="ko-KR" dirty="0"/>
              <a:t>(Lev. 1)</a:t>
            </a:r>
            <a:endParaRPr lang="ko-KR" altLang="en-US" dirty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B3E1EA1A-0AE2-4048-85BD-E8FF60B66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927" y="812331"/>
            <a:ext cx="8566164" cy="326514"/>
          </a:xfrm>
        </p:spPr>
        <p:txBody>
          <a:bodyPr/>
          <a:lstStyle>
            <a:lvl1pPr marL="0" indent="0">
              <a:buNone/>
              <a:defRPr b="0" i="0">
                <a:latin typeface="+mn-ea"/>
                <a:ea typeface="+mn-ea"/>
              </a:defRPr>
            </a:lvl1pPr>
          </a:lstStyle>
          <a:p>
            <a:endParaRPr lang="ko-KR" altLang="en-US" sz="1600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B654272-7A66-4A6F-864A-EA72F05A36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3" y="6579724"/>
            <a:ext cx="1116114" cy="238147"/>
          </a:xfrm>
          <a:prstGeom prst="rect">
            <a:avLst/>
          </a:prstGeom>
        </p:spPr>
      </p:pic>
      <p:pic>
        <p:nvPicPr>
          <p:cNvPr id="1026" name="Picture 2" descr="CJ제일제당, 소비 트랜드 변화 속 주도권 잡을 것... 목표가↑” | 서울경제">
            <a:extLst>
              <a:ext uri="{FF2B5EF4-FFF2-40B4-BE49-F238E27FC236}">
                <a16:creationId xmlns:a16="http://schemas.microsoft.com/office/drawing/2014/main" id="{FAB304BA-A58C-41E4-B516-C4D3FD8A1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600" y="6483682"/>
            <a:ext cx="1010040" cy="39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67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86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2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78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99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70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00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51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06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807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638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91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KoPub돋움체 Medium" panose="02020603020101020101"/>
              </a:defRPr>
            </a:lvl1pPr>
          </a:lstStyle>
          <a:p>
            <a:fld id="{0F744B66-E7DC-4A7D-AEEA-2A1A2D864FE9}" type="datetimeFigureOut">
              <a:rPr lang="ko-KR" altLang="en-US" smtClean="0"/>
              <a:pPr/>
              <a:t>2024-12-26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KoPub돋움체 Medium" panose="02020603020101020101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KoPub돋움체 Medium" panose="02020603020101020101"/>
              </a:defRPr>
            </a:lvl1pPr>
          </a:lstStyle>
          <a:p>
            <a:fld id="{DC1E238A-BDA5-4F40-A400-0589DA7F6A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443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KoPub돋움체 Medium" panose="02020603020101020101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KoPub돋움체 Medium" panose="02020603020101020101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KoPub돋움체 Medium" panose="02020603020101020101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KoPub돋움체 Medium" panose="02020603020101020101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KoPub돋움체 Medium" panose="02020603020101020101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KoPub돋움체 Medium" panose="02020603020101020101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7C3F5-0936-4E80-83AE-71B89C4EF01D}" type="datetimeFigureOut">
              <a:rPr lang="ko-KR" altLang="en-US" smtClean="0"/>
              <a:t>2024-12-26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B27A8-8D62-4D4A-9482-CE8B9E056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18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95983" y="1815765"/>
            <a:ext cx="8552032" cy="1209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&lt;</a:t>
            </a:r>
            <a:r>
              <a:rPr lang="ko-KR" altLang="en-US" sz="2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생육 분석 자동화 </a:t>
            </a:r>
            <a:r>
              <a:rPr lang="en-US" altLang="ko-KR" sz="2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Vision AI </a:t>
            </a:r>
            <a:r>
              <a:rPr lang="ko-KR" altLang="en-US" sz="2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모델 개발</a:t>
            </a:r>
            <a:r>
              <a:rPr lang="en-US" altLang="ko-KR" sz="2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sz="2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불확실성과 시계열 모델링 기반 작물 생육일자 예측</a:t>
            </a:r>
            <a:endParaRPr lang="en-US" altLang="ko-KR" sz="28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58FF7-ED5C-4C6B-B3F8-A8AB24636CE0}"/>
              </a:ext>
            </a:extLst>
          </p:cNvPr>
          <p:cNvSpPr txBox="1"/>
          <p:nvPr/>
        </p:nvSpPr>
        <p:spPr>
          <a:xfrm>
            <a:off x="2014083" y="4068532"/>
            <a:ext cx="5115832" cy="205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kern="300" spc="-90" dirty="0">
                <a:latin typeface="맑은 고딕" panose="020B0503020000020004" pitchFamily="50" charset="-127"/>
              </a:rPr>
              <a:t>2024. 12. 26</a:t>
            </a:r>
          </a:p>
          <a:p>
            <a:pPr algn="ctr">
              <a:lnSpc>
                <a:spcPct val="150000"/>
              </a:lnSpc>
            </a:pPr>
            <a:r>
              <a:rPr lang="ko-KR" altLang="en-US" sz="2000" b="1" kern="300" spc="-90" dirty="0" err="1">
                <a:latin typeface="맑은 고딕" panose="020B0503020000020004" pitchFamily="50" charset="-127"/>
              </a:rPr>
              <a:t>민찬홍</a:t>
            </a:r>
            <a:endParaRPr lang="en-US" altLang="ko-KR" sz="2000" b="1" kern="300" spc="-90" dirty="0"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1" kern="300" spc="-90" dirty="0">
                <a:latin typeface="맑은 고딕" panose="020B0503020000020004" pitchFamily="50" charset="-127"/>
              </a:rPr>
              <a:t>Korea University</a:t>
            </a:r>
            <a:endParaRPr lang="en-US" altLang="ko-KR" sz="2000" b="1" kern="300" spc="-90" dirty="0">
              <a:ln>
                <a:solidFill>
                  <a:prstClr val="white">
                    <a:alpha val="0"/>
                  </a:prst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1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r>
              <a:rPr lang="en-US" altLang="ko-KR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ata</a:t>
            </a:r>
            <a:r>
              <a:rPr lang="ko-KR" altLang="en-US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r>
              <a:rPr lang="en-US" altLang="ko-KR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ining</a:t>
            </a:r>
            <a:r>
              <a:rPr lang="ko-KR" altLang="en-US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uality</a:t>
            </a:r>
            <a:r>
              <a:rPr lang="ko-KR" altLang="en-US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nalytics</a:t>
            </a:r>
            <a:r>
              <a:rPr lang="ko-KR" altLang="en-US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Lab</a:t>
            </a:r>
            <a:r>
              <a:rPr lang="en-US" altLang="ko-KR" sz="2400" kern="300" spc="-9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D7090-FDFB-F445-8EA4-EF01167D0499}"/>
              </a:ext>
            </a:extLst>
          </p:cNvPr>
          <p:cNvSpPr txBox="1"/>
          <p:nvPr/>
        </p:nvSpPr>
        <p:spPr>
          <a:xfrm>
            <a:off x="1900237" y="965775"/>
            <a:ext cx="534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DMQA </a:t>
            </a:r>
            <a:r>
              <a:rPr lang="ko-KR" altLang="en-US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인턴 미팅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A33BB-4871-D2BB-1B26-185809C1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B17F5B-38EA-2D71-1504-D5683E0CAC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04040"/>
                </a:solidFill>
              </a:rPr>
              <a:t>목차</a:t>
            </a:r>
            <a:endParaRPr lang="ko-KR" altLang="en-US" sz="2800" dirty="0">
              <a:solidFill>
                <a:srgbClr val="40404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BAA45-B80A-A78C-F6ED-0BE69297B496}"/>
              </a:ext>
            </a:extLst>
          </p:cNvPr>
          <p:cNvSpPr txBox="1"/>
          <p:nvPr/>
        </p:nvSpPr>
        <p:spPr>
          <a:xfrm>
            <a:off x="613110" y="1066983"/>
            <a:ext cx="5829300" cy="371672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400050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ea typeface="KoPub돋움체 Medium" panose="02020603020101020101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ea typeface="KoPub돋움체 Medium" panose="02020603020101020101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ea typeface="KoPub돋움체 Medium" panose="02020603020101020101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ea typeface="KoPub돋움체 Medium" panose="02020603020101020101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1.</a:t>
            </a:r>
            <a:r>
              <a:rPr lang="ko-KR" altLang="en-US" dirty="0"/>
              <a:t> 불확실성</a:t>
            </a:r>
            <a:endParaRPr lang="en-US" altLang="ko-KR" dirty="0"/>
          </a:p>
          <a:p>
            <a:r>
              <a:rPr lang="en-US" altLang="ko-KR" sz="1800" dirty="0"/>
              <a:t>2.</a:t>
            </a:r>
            <a:r>
              <a:rPr lang="ko-KR" altLang="en-US" sz="1800" dirty="0"/>
              <a:t> 불확실성 실험</a:t>
            </a:r>
            <a:r>
              <a:rPr lang="en-US" altLang="ko-KR" sz="1800" dirty="0"/>
              <a:t> </a:t>
            </a:r>
            <a:r>
              <a:rPr lang="ko-KR" altLang="en-US" dirty="0"/>
              <a:t>결과</a:t>
            </a:r>
            <a:endParaRPr lang="en-US" altLang="ko-KR" sz="1800" dirty="0"/>
          </a:p>
          <a:p>
            <a:r>
              <a:rPr lang="en-US" altLang="ko-KR" dirty="0"/>
              <a:t>3.</a:t>
            </a:r>
            <a:r>
              <a:rPr lang="ko-KR" altLang="en-US" dirty="0"/>
              <a:t> 시계열 모델링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 시계열 모델링 실험 결과 </a:t>
            </a:r>
            <a:endParaRPr lang="en-US" altLang="ko-KR" dirty="0"/>
          </a:p>
          <a:p>
            <a:r>
              <a:rPr lang="en-US" altLang="ko-KR" dirty="0"/>
              <a:t>5.</a:t>
            </a:r>
            <a:r>
              <a:rPr lang="ko-KR" altLang="en-US" dirty="0"/>
              <a:t> 결론</a:t>
            </a:r>
            <a:endParaRPr lang="en-US" altLang="ko-KR" dirty="0"/>
          </a:p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en-US" altLang="ko-KR" sz="18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. </a:t>
            </a:r>
            <a:r>
              <a:rPr lang="ko-KR" altLang="en-US" sz="18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인턴 생활 후기</a:t>
            </a:r>
            <a:endParaRPr lang="en-US" altLang="ko-KR" sz="1800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813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F98BFE-EED3-02E8-BA8F-B9554C9DE40D}"/>
              </a:ext>
            </a:extLst>
          </p:cNvPr>
          <p:cNvSpPr/>
          <p:nvPr/>
        </p:nvSpPr>
        <p:spPr>
          <a:xfrm>
            <a:off x="1" y="2517693"/>
            <a:ext cx="9143999" cy="1667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 algn="ctr">
              <a:buAutoNum type="arabicPeriod"/>
            </a:pPr>
            <a:r>
              <a:rPr lang="en-US" altLang="ko-KR" b="1" spc="-6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Uncertainty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059D4710-17DB-87F2-6A01-20759B0280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" y="228600"/>
            <a:ext cx="6546850" cy="468313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404040"/>
                </a:solidFill>
              </a:rPr>
              <a:t>불확실성</a:t>
            </a:r>
            <a:endParaRPr lang="en-US" sz="28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54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7174-0728-188B-66D2-0AD5B730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1C72F6-61D1-B90B-DE02-EC79D004D8DB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663163" cy="212987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Uncertainty</a:t>
            </a:r>
            <a:r>
              <a:rPr lang="ko-KR" altLang="en-US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확인하는 이유</a:t>
            </a:r>
          </a:p>
          <a:p>
            <a:pPr lvl="1">
              <a:lnSpc>
                <a:spcPct val="150000"/>
              </a:lnSpc>
            </a:pP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Neural Net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들은 단지 학습 데이터에 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fitting 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되어있는 상태에서 사용</a:t>
            </a:r>
            <a:endParaRPr lang="en-US" altLang="ko-KR" sz="1200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따라서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학습 데이터에서 보지 못한 예측 데이터에 대해 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Neural Net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이 정확하게 예측하는지 의문을 가질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필요성 존재 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-&gt;Uncertainty 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정량화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Uncertainty: 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모델의 예측 결과를 얼마나 신뢰할 수 있는지 나타내는 지표</a:t>
            </a:r>
            <a:endParaRPr lang="en-US" altLang="ko-KR" sz="1600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3" name="Google Shape;44;p5">
            <a:extLst>
              <a:ext uri="{FF2B5EF4-FFF2-40B4-BE49-F238E27FC236}">
                <a16:creationId xmlns:a16="http://schemas.microsoft.com/office/drawing/2014/main" id="{F225C5DC-6CA6-C921-9A1D-4A9C2B755CE6}"/>
              </a:ext>
            </a:extLst>
          </p:cNvPr>
          <p:cNvSpPr txBox="1">
            <a:spLocks/>
          </p:cNvSpPr>
          <p:nvPr/>
        </p:nvSpPr>
        <p:spPr>
          <a:xfrm>
            <a:off x="418924" y="3214481"/>
            <a:ext cx="8511048" cy="132709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ko-KR"/>
            </a:defPPr>
            <a:lvl1pPr marL="400050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b="1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  <a:lvl2pPr marL="685800" lvl="1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ea typeface="KoPub돋움체 Medium" panose="02020603020101020101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ea typeface="KoPub돋움체 Medium" panose="02020603020101020101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ea typeface="KoPub돋움체 Medium" panose="02020603020101020101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Uncertainty </a:t>
            </a:r>
            <a:r>
              <a:rPr lang="ko-KR" altLang="en-US" dirty="0"/>
              <a:t>정량화 방법</a:t>
            </a:r>
            <a:r>
              <a:rPr lang="en-US" altLang="ko-KR" dirty="0"/>
              <a:t>: MC Dropout</a:t>
            </a:r>
          </a:p>
          <a:p>
            <a:pPr lvl="1"/>
            <a:r>
              <a:rPr lang="en-US" altLang="ko-KR" dirty="0"/>
              <a:t>Bayesian</a:t>
            </a:r>
            <a:r>
              <a:rPr lang="ko-KR" altLang="en-US" dirty="0"/>
              <a:t> 기반 </a:t>
            </a:r>
            <a:r>
              <a:rPr lang="en-US" altLang="ko-KR" dirty="0"/>
              <a:t>modeling:  </a:t>
            </a:r>
            <a:r>
              <a:rPr lang="ko-KR" altLang="en-US" dirty="0"/>
              <a:t>여러 개의 </a:t>
            </a:r>
            <a:r>
              <a:rPr lang="en-US" altLang="ko-KR" dirty="0"/>
              <a:t>Output</a:t>
            </a:r>
            <a:r>
              <a:rPr lang="ko-KR" altLang="en-US" dirty="0"/>
              <a:t>들의 분포에서 나오는 표준편차를 활용</a:t>
            </a:r>
            <a:endParaRPr lang="en-US" altLang="ko-KR" dirty="0"/>
          </a:p>
          <a:p>
            <a:pPr lvl="1"/>
            <a:r>
              <a:rPr lang="en-US" altLang="ko-KR" dirty="0"/>
              <a:t>MC Dropout: inference </a:t>
            </a:r>
            <a:r>
              <a:rPr lang="ko-KR" altLang="en-US" dirty="0"/>
              <a:t>시 </a:t>
            </a:r>
            <a:r>
              <a:rPr lang="en-US" altLang="ko-KR" dirty="0"/>
              <a:t>dropout </a:t>
            </a:r>
            <a:r>
              <a:rPr lang="ko-KR" altLang="en-US" dirty="0"/>
              <a:t>활성화시켜 여러 번의 </a:t>
            </a:r>
            <a:r>
              <a:rPr lang="en-US" altLang="ko-KR" dirty="0"/>
              <a:t>output </a:t>
            </a:r>
            <a:r>
              <a:rPr lang="ko-KR" altLang="en-US" dirty="0"/>
              <a:t>뽑음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FAF2CE-755C-5585-C557-D172919B9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48" y="4613841"/>
            <a:ext cx="4218257" cy="1797741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F9E415D6-4560-BD73-3090-4D3B937CAD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" y="228600"/>
            <a:ext cx="6546850" cy="468313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404040"/>
                </a:solidFill>
              </a:rPr>
              <a:t>불확실성</a:t>
            </a:r>
            <a:endParaRPr lang="en-US" sz="28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15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D80D02-EE3C-648F-A4A6-23D39F3B56F3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663163" cy="893706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Dropout </a:t>
            </a:r>
            <a:r>
              <a:rPr lang="ko-KR" altLang="en-US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적용</a:t>
            </a:r>
          </a:p>
          <a:p>
            <a:pPr lvl="1">
              <a:lnSpc>
                <a:spcPct val="150000"/>
              </a:lnSpc>
            </a:pP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표준편차를 통해 불확실성 정량화 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(inference 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할 때만 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dropout </a:t>
            </a: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적용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D68C8F-10A6-9885-EF34-D6E12C3A6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332" y="1919039"/>
            <a:ext cx="6229425" cy="206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D094E0F0-1A24-1BD6-666A-E758CA03A195}"/>
              </a:ext>
            </a:extLst>
          </p:cNvPr>
          <p:cNvSpPr/>
          <p:nvPr/>
        </p:nvSpPr>
        <p:spPr>
          <a:xfrm rot="10800000">
            <a:off x="3248864" y="3893342"/>
            <a:ext cx="258583" cy="389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8" name="화살표: 아래쪽 13">
            <a:extLst>
              <a:ext uri="{FF2B5EF4-FFF2-40B4-BE49-F238E27FC236}">
                <a16:creationId xmlns:a16="http://schemas.microsoft.com/office/drawing/2014/main" id="{C1CACC72-56BE-2537-06F4-3D6BBA9EA4BB}"/>
              </a:ext>
            </a:extLst>
          </p:cNvPr>
          <p:cNvSpPr/>
          <p:nvPr/>
        </p:nvSpPr>
        <p:spPr>
          <a:xfrm rot="10800000">
            <a:off x="4491922" y="3873728"/>
            <a:ext cx="258583" cy="389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9" name="화살표: 아래쪽 15">
            <a:extLst>
              <a:ext uri="{FF2B5EF4-FFF2-40B4-BE49-F238E27FC236}">
                <a16:creationId xmlns:a16="http://schemas.microsoft.com/office/drawing/2014/main" id="{F8DA891D-9F4D-C3FC-ECAA-1542AE682C0F}"/>
              </a:ext>
            </a:extLst>
          </p:cNvPr>
          <p:cNvSpPr/>
          <p:nvPr/>
        </p:nvSpPr>
        <p:spPr>
          <a:xfrm rot="10800000">
            <a:off x="5713073" y="3893342"/>
            <a:ext cx="258583" cy="389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0" name="화살표: 아래쪽 19">
            <a:extLst>
              <a:ext uri="{FF2B5EF4-FFF2-40B4-BE49-F238E27FC236}">
                <a16:creationId xmlns:a16="http://schemas.microsoft.com/office/drawing/2014/main" id="{1A1F26DA-6C7C-C5D6-F6C7-14FB061DED83}"/>
              </a:ext>
            </a:extLst>
          </p:cNvPr>
          <p:cNvSpPr/>
          <p:nvPr/>
        </p:nvSpPr>
        <p:spPr>
          <a:xfrm rot="10800000">
            <a:off x="6931191" y="3893343"/>
            <a:ext cx="258583" cy="389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1" name="화살표: 아래쪽 21">
            <a:extLst>
              <a:ext uri="{FF2B5EF4-FFF2-40B4-BE49-F238E27FC236}">
                <a16:creationId xmlns:a16="http://schemas.microsoft.com/office/drawing/2014/main" id="{72BF4631-6215-9C62-2AA0-EE7B13669C26}"/>
              </a:ext>
            </a:extLst>
          </p:cNvPr>
          <p:cNvSpPr/>
          <p:nvPr/>
        </p:nvSpPr>
        <p:spPr>
          <a:xfrm rot="10800000">
            <a:off x="7187283" y="3886532"/>
            <a:ext cx="258583" cy="389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7A851-89C2-CDA1-ED80-BDA21667E9EA}"/>
              </a:ext>
            </a:extLst>
          </p:cNvPr>
          <p:cNvSpPr txBox="1"/>
          <p:nvPr/>
        </p:nvSpPr>
        <p:spPr>
          <a:xfrm>
            <a:off x="571944" y="3928519"/>
            <a:ext cx="1630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Dropout </a:t>
            </a:r>
            <a:r>
              <a:rPr lang="ko-KR" altLang="en-US" sz="1400" dirty="0"/>
              <a:t>적용</a:t>
            </a:r>
          </a:p>
        </p:txBody>
      </p:sp>
      <p:sp>
        <p:nvSpPr>
          <p:cNvPr id="13" name="Google Shape;44;p5">
            <a:extLst>
              <a:ext uri="{FF2B5EF4-FFF2-40B4-BE49-F238E27FC236}">
                <a16:creationId xmlns:a16="http://schemas.microsoft.com/office/drawing/2014/main" id="{738B36B9-08BF-D1B6-6113-0FCE827E9D7C}"/>
              </a:ext>
            </a:extLst>
          </p:cNvPr>
          <p:cNvSpPr txBox="1">
            <a:spLocks/>
          </p:cNvSpPr>
          <p:nvPr/>
        </p:nvSpPr>
        <p:spPr>
          <a:xfrm>
            <a:off x="571039" y="4680748"/>
            <a:ext cx="8511048" cy="13271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ko-KR"/>
            </a:defPPr>
            <a:lvl1pPr marL="400050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b="1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  <a:lvl2pPr marL="685800" lvl="1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ea typeface="KoPub돋움체 Medium" panose="02020603020101020101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ea typeface="KoPub돋움체 Medium" panose="02020603020101020101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ea typeface="KoPub돋움체 Medium" panose="02020603020101020101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Dropout </a:t>
            </a:r>
            <a:r>
              <a:rPr lang="ko-KR" altLang="en-US" dirty="0"/>
              <a:t>적용 위치</a:t>
            </a:r>
            <a:endParaRPr lang="en-US" altLang="ko-KR" dirty="0"/>
          </a:p>
          <a:p>
            <a:pPr lvl="1"/>
            <a:r>
              <a:rPr lang="en-US" altLang="ko-KR" dirty="0" err="1"/>
              <a:t>ResNet</a:t>
            </a:r>
            <a:r>
              <a:rPr lang="ko-KR" altLang="en-US" dirty="0"/>
              <a:t>의 각 계층</a:t>
            </a:r>
            <a:r>
              <a:rPr lang="en-US" altLang="ko-KR" dirty="0"/>
              <a:t>(layer1 ~ layer4)</a:t>
            </a:r>
            <a:r>
              <a:rPr lang="ko-KR" altLang="en-US" dirty="0"/>
              <a:t>은 각기 다른 수준 특징 학습한다는 특성 반영 </a:t>
            </a:r>
            <a:endParaRPr lang="en-US" altLang="ko-KR" dirty="0"/>
          </a:p>
          <a:p>
            <a:pPr lvl="1"/>
            <a:r>
              <a:rPr lang="en-US" altLang="ko-KR" dirty="0" err="1"/>
              <a:t>ResNet</a:t>
            </a:r>
            <a:r>
              <a:rPr lang="ko-KR" altLang="en-US" dirty="0"/>
              <a:t>의 </a:t>
            </a:r>
            <a:r>
              <a:rPr lang="en-US" altLang="ko-KR" dirty="0"/>
              <a:t>shortcut </a:t>
            </a:r>
            <a:r>
              <a:rPr lang="ko-KR" altLang="en-US" dirty="0"/>
              <a:t>연결에는 영향을 주지 않으므로</a:t>
            </a:r>
            <a:r>
              <a:rPr lang="en-US" altLang="ko-KR" dirty="0"/>
              <a:t>, </a:t>
            </a:r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의 정보 손실 위험 방지</a:t>
            </a:r>
            <a:endParaRPr lang="en-US" altLang="ko-KR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EC41B2B0-7DC7-E61C-3FEE-D589FDD135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" y="228600"/>
            <a:ext cx="6546850" cy="468313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404040"/>
                </a:solidFill>
              </a:rPr>
              <a:t>불확실성</a:t>
            </a:r>
            <a:endParaRPr lang="en-US" sz="28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5A1A-5F0D-9638-85E5-9DFD2FBD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CA968-AEF6-CE81-983F-B0972485C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404040"/>
                </a:solidFill>
              </a:rPr>
              <a:t>불확실성</a:t>
            </a:r>
            <a:r>
              <a:rPr lang="ko-KR" altLang="en-US" sz="2800" b="1" dirty="0">
                <a:solidFill>
                  <a:srgbClr val="404040"/>
                </a:solidFill>
              </a:rPr>
              <a:t> 실험 결과</a:t>
            </a:r>
            <a:endParaRPr lang="en-US" sz="2800" b="1" dirty="0">
              <a:solidFill>
                <a:srgbClr val="40404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A5FF7AD-C1A6-827F-95FD-E6C9FBE86A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8924" y="850094"/>
                <a:ext cx="8663163" cy="17605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KoPub돋움체 Medium" panose="02020603020101020101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KoPub돋움체 Medium" panose="02020603020101020101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KoPub돋움체 Medium" panose="02020603020101020101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KoPub돋움체 Medium" panose="02020603020101020101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KoPub돋움체 Medium" panose="02020603020101020101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indent="-4000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800" b="1" spc="-8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Dropout Rate</a:t>
                </a:r>
                <a:endParaRPr lang="ko-KR" altLang="en-US" sz="18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spc="-50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휴리스틱한</a:t>
                </a:r>
                <a:r>
                  <a:rPr lang="ko-KR" altLang="en-US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 방법으로 시도</a:t>
                </a:r>
                <a:r>
                  <a:rPr lang="en-US" altLang="ko-KR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itchFamily="34" charset="0"/>
                          </a:rPr>
                          <m:t>10</m:t>
                        </m:r>
                      </m:e>
                      <m:sup>
                        <m:r>
                          <a:rPr lang="en-US" altLang="ko-KR" sz="1600" b="0" i="1" spc="-50" smtClean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itchFamily="34" charset="0"/>
                          </a:rPr>
                          <m:t>10</m:t>
                        </m:r>
                      </m:e>
                      <m:sup>
                        <m:r>
                          <a:rPr lang="en-US" altLang="ko-KR" sz="1600" b="0" i="1" spc="-50" smtClean="0">
                            <a:ln>
                              <a:solidFill>
                                <a:schemeClr val="bg1">
                                  <a:alpha val="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Arial" pitchFamily="34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n-US" altLang="ko-KR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Dropout rate</a:t>
                </a:r>
                <a:r>
                  <a:rPr lang="ko-KR" altLang="en-US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가 커질수록 </a:t>
                </a:r>
                <a:r>
                  <a:rPr lang="en-US" altLang="ko-KR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Uncertainty </a:t>
                </a:r>
                <a:r>
                  <a:rPr lang="ko-KR" altLang="en-US" sz="1600" spc="-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값이 증가함</a:t>
                </a:r>
                <a:endParaRPr lang="en-US" altLang="ko-KR" sz="1600" spc="-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600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A5FF7AD-C1A6-827F-95FD-E6C9FBE86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24" y="850094"/>
                <a:ext cx="8663163" cy="1760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5">
            <a:extLst>
              <a:ext uri="{FF2B5EF4-FFF2-40B4-BE49-F238E27FC236}">
                <a16:creationId xmlns:a16="http://schemas.microsoft.com/office/drawing/2014/main" id="{09C0D1BF-29D5-98AD-0528-466101A01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597" y="2141537"/>
            <a:ext cx="5830805" cy="397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2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21A0-A1EF-E1F3-7097-F8915F83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BE80E7-8BF0-17BD-B376-9659D936F7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404040"/>
                </a:solidFill>
              </a:rPr>
              <a:t>불확실성</a:t>
            </a:r>
            <a:r>
              <a:rPr lang="ko-KR" altLang="en-US" sz="2800" b="1" dirty="0">
                <a:solidFill>
                  <a:srgbClr val="404040"/>
                </a:solidFill>
              </a:rPr>
              <a:t> 실험 결과</a:t>
            </a:r>
            <a:endParaRPr lang="en-US" sz="2800" b="1" dirty="0">
              <a:solidFill>
                <a:srgbClr val="404040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A6929A-625A-C1FA-9F97-9B5AA700603B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663163" cy="262745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Dropout Rate</a:t>
            </a:r>
            <a:endParaRPr lang="ko-KR" altLang="en-US" sz="18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Dropout rate</a:t>
            </a:r>
            <a:r>
              <a:rPr lang="ko-KR" altLang="en-US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에 따른 </a:t>
            </a:r>
            <a:r>
              <a:rPr lang="en-US" altLang="ko-KR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Uncertainty, MAE </a:t>
            </a:r>
            <a:r>
              <a:rPr lang="ko-KR" altLang="en-US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산출</a:t>
            </a:r>
            <a:endParaRPr lang="en-US" altLang="ko-KR" sz="1600" spc="-50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Dropout rate</a:t>
            </a:r>
            <a:r>
              <a:rPr lang="ko-KR" altLang="en-US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가 증가함에 따라 </a:t>
            </a:r>
            <a:r>
              <a:rPr lang="en-US" altLang="ko-KR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MAE</a:t>
            </a:r>
            <a:r>
              <a:rPr lang="ko-KR" altLang="en-US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는 감소함</a:t>
            </a:r>
            <a:endParaRPr lang="en-US" altLang="ko-KR" sz="1600" spc="-50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모델이 학습 </a:t>
            </a:r>
            <a:r>
              <a:rPr lang="en-US" altLang="ko-KR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data </a:t>
            </a:r>
            <a:r>
              <a:rPr lang="ko-KR" altLang="en-US" sz="1600" spc="-5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과적합</a:t>
            </a:r>
            <a:r>
              <a:rPr lang="ko-KR" altLang="en-US" sz="1600" spc="-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되었기 때문이라고 판단</a:t>
            </a:r>
            <a:endParaRPr lang="en-US" altLang="ko-KR" sz="1600" spc="-50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sz="1600" spc="-50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sz="1600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aphicFrame>
        <p:nvGraphicFramePr>
          <p:cNvPr id="5" name="표 1">
            <a:extLst>
              <a:ext uri="{FF2B5EF4-FFF2-40B4-BE49-F238E27FC236}">
                <a16:creationId xmlns:a16="http://schemas.microsoft.com/office/drawing/2014/main" id="{0BE8FCCD-DD22-89D3-66B0-323F83A16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39498"/>
              </p:ext>
            </p:extLst>
          </p:nvPr>
        </p:nvGraphicFramePr>
        <p:xfrm>
          <a:off x="895454" y="3322144"/>
          <a:ext cx="7710101" cy="1441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443">
                  <a:extLst>
                    <a:ext uri="{9D8B030D-6E8A-4147-A177-3AD203B41FA5}">
                      <a16:colId xmlns:a16="http://schemas.microsoft.com/office/drawing/2014/main" val="3708816089"/>
                    </a:ext>
                  </a:extLst>
                </a:gridCol>
                <a:gridCol w="1101443">
                  <a:extLst>
                    <a:ext uri="{9D8B030D-6E8A-4147-A177-3AD203B41FA5}">
                      <a16:colId xmlns:a16="http://schemas.microsoft.com/office/drawing/2014/main" val="4051188428"/>
                    </a:ext>
                  </a:extLst>
                </a:gridCol>
                <a:gridCol w="1101443">
                  <a:extLst>
                    <a:ext uri="{9D8B030D-6E8A-4147-A177-3AD203B41FA5}">
                      <a16:colId xmlns:a16="http://schemas.microsoft.com/office/drawing/2014/main" val="3141897426"/>
                    </a:ext>
                  </a:extLst>
                </a:gridCol>
                <a:gridCol w="1101443">
                  <a:extLst>
                    <a:ext uri="{9D8B030D-6E8A-4147-A177-3AD203B41FA5}">
                      <a16:colId xmlns:a16="http://schemas.microsoft.com/office/drawing/2014/main" val="466108733"/>
                    </a:ext>
                  </a:extLst>
                </a:gridCol>
                <a:gridCol w="1101443">
                  <a:extLst>
                    <a:ext uri="{9D8B030D-6E8A-4147-A177-3AD203B41FA5}">
                      <a16:colId xmlns:a16="http://schemas.microsoft.com/office/drawing/2014/main" val="3610032884"/>
                    </a:ext>
                  </a:extLst>
                </a:gridCol>
                <a:gridCol w="1101443">
                  <a:extLst>
                    <a:ext uri="{9D8B030D-6E8A-4147-A177-3AD203B41FA5}">
                      <a16:colId xmlns:a16="http://schemas.microsoft.com/office/drawing/2014/main" val="979493115"/>
                    </a:ext>
                  </a:extLst>
                </a:gridCol>
                <a:gridCol w="1101443">
                  <a:extLst>
                    <a:ext uri="{9D8B030D-6E8A-4147-A177-3AD203B41FA5}">
                      <a16:colId xmlns:a16="http://schemas.microsoft.com/office/drawing/2014/main" val="3528390926"/>
                    </a:ext>
                  </a:extLst>
                </a:gridCol>
              </a:tblGrid>
              <a:tr h="472006"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기존 모델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10e-1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10e-2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10e-3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10e-4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10e-5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611968"/>
                  </a:ext>
                </a:extLst>
              </a:tr>
              <a:tr h="472006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Uncertainty</a:t>
                      </a:r>
                    </a:p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(Std.)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/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0.305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0.098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0.030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0.010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0.002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198074"/>
                  </a:ext>
                </a:extLst>
              </a:tr>
              <a:tr h="472006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MAE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1.046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0.861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1.026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1.045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1.047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1.046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067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163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304E-C047-53E7-3DEC-200424CD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802F5-ABBA-53D8-8480-E8FFBA1F1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43257-C2F9-35FB-518C-5B6F5894C320}"/>
              </a:ext>
            </a:extLst>
          </p:cNvPr>
          <p:cNvSpPr/>
          <p:nvPr/>
        </p:nvSpPr>
        <p:spPr>
          <a:xfrm>
            <a:off x="1" y="2517693"/>
            <a:ext cx="9143999" cy="1667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1" spc="-6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/>
            <a:r>
              <a:rPr lang="en-US" altLang="ko-KR" b="1" spc="-6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2. </a:t>
            </a:r>
            <a:r>
              <a:rPr lang="ko-KR" altLang="en-US" b="1" spc="-6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시계열 모델링</a:t>
            </a:r>
            <a:endParaRPr lang="en-US" altLang="ko-KR" b="1" spc="-6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/>
            <a:endParaRPr lang="ko-KR" altLang="en-US" dirty="0">
              <a:solidFill>
                <a:srgbClr val="404040"/>
              </a:solidFill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813F79D-C679-8F43-36F8-38E2C64638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000" y="228600"/>
            <a:ext cx="6546850" cy="468313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sz="2800" b="1" dirty="0">
                <a:solidFill>
                  <a:srgbClr val="404040"/>
                </a:solidFill>
              </a:rPr>
              <a:t>시계열 모델링</a:t>
            </a:r>
            <a:endParaRPr lang="en-US" sz="28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0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4C0C-D8B1-941E-24B7-90F7CA3B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9A70E-DEE2-FB3D-2086-0F9FDE64A4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3.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B53EEB-A35F-7221-6FB6-072E668FDE4F}"/>
              </a:ext>
            </a:extLst>
          </p:cNvPr>
          <p:cNvSpPr/>
          <p:nvPr/>
        </p:nvSpPr>
        <p:spPr>
          <a:xfrm>
            <a:off x="650367" y="2356351"/>
            <a:ext cx="3705225" cy="365155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13D0AC-AC09-1CC5-A82E-1DFAD22CC0AF}"/>
              </a:ext>
            </a:extLst>
          </p:cNvPr>
          <p:cNvSpPr/>
          <p:nvPr/>
        </p:nvSpPr>
        <p:spPr>
          <a:xfrm>
            <a:off x="4884370" y="2356352"/>
            <a:ext cx="3705225" cy="3651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38">
            <a:extLst>
              <a:ext uri="{FF2B5EF4-FFF2-40B4-BE49-F238E27FC236}">
                <a16:creationId xmlns:a16="http://schemas.microsoft.com/office/drawing/2014/main" id="{79EE13C4-E386-3468-66F1-BF0D4A4280C5}"/>
              </a:ext>
            </a:extLst>
          </p:cNvPr>
          <p:cNvSpPr txBox="1"/>
          <p:nvPr/>
        </p:nvSpPr>
        <p:spPr>
          <a:xfrm>
            <a:off x="2119892" y="2184972"/>
            <a:ext cx="76617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AS-IS</a:t>
            </a:r>
            <a:endParaRPr lang="ko-KR" altLang="en-US" sz="20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" name="TextBox 38">
            <a:extLst>
              <a:ext uri="{FF2B5EF4-FFF2-40B4-BE49-F238E27FC236}">
                <a16:creationId xmlns:a16="http://schemas.microsoft.com/office/drawing/2014/main" id="{62532DC4-6914-3D8C-A04E-4161D2793E82}"/>
              </a:ext>
            </a:extLst>
          </p:cNvPr>
          <p:cNvSpPr txBox="1"/>
          <p:nvPr/>
        </p:nvSpPr>
        <p:spPr>
          <a:xfrm>
            <a:off x="6353895" y="2194697"/>
            <a:ext cx="76617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TO-BE</a:t>
            </a:r>
            <a:endParaRPr lang="ko-KR" altLang="en-US" sz="20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" name="TextBox 38">
            <a:extLst>
              <a:ext uri="{FF2B5EF4-FFF2-40B4-BE49-F238E27FC236}">
                <a16:creationId xmlns:a16="http://schemas.microsoft.com/office/drawing/2014/main" id="{5524C9B1-7B66-8252-1F10-320B721BFD41}"/>
              </a:ext>
            </a:extLst>
          </p:cNvPr>
          <p:cNvSpPr txBox="1"/>
          <p:nvPr/>
        </p:nvSpPr>
        <p:spPr>
          <a:xfrm>
            <a:off x="646752" y="2639568"/>
            <a:ext cx="37052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단일 시점 이미지만을 고려하여 모델링</a:t>
            </a:r>
            <a:endParaRPr lang="en-US" altLang="ko-KR" sz="12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355D42EF-B92E-D6EE-8F46-5216B286C508}"/>
              </a:ext>
            </a:extLst>
          </p:cNvPr>
          <p:cNvSpPr txBox="1"/>
          <p:nvPr/>
        </p:nvSpPr>
        <p:spPr>
          <a:xfrm>
            <a:off x="4880755" y="2637883"/>
            <a:ext cx="37052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과거 시점 이미지를 함께 </a:t>
            </a:r>
            <a:r>
              <a:rPr lang="ko-KR" altLang="en-US" sz="1200" b="1" spc="-88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활용하여 모델링</a:t>
            </a:r>
            <a:endParaRPr lang="en-US" altLang="ko-KR" sz="12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68CE0F-CAA3-3878-8F71-08E2E4BAA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7927" y="4061838"/>
            <a:ext cx="1089829" cy="606140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sp>
        <p:nvSpPr>
          <p:cNvPr id="12" name="순서도: 수동 연산 11">
            <a:extLst>
              <a:ext uri="{FF2B5EF4-FFF2-40B4-BE49-F238E27FC236}">
                <a16:creationId xmlns:a16="http://schemas.microsoft.com/office/drawing/2014/main" id="{315547B2-94A6-C175-E1B6-3589E1F2E551}"/>
              </a:ext>
            </a:extLst>
          </p:cNvPr>
          <p:cNvSpPr/>
          <p:nvPr/>
        </p:nvSpPr>
        <p:spPr>
          <a:xfrm rot="16200000">
            <a:off x="2481809" y="4256135"/>
            <a:ext cx="608844" cy="217548"/>
          </a:xfrm>
          <a:prstGeom prst="flowChartManualOperation">
            <a:avLst/>
          </a:prstGeom>
          <a:solidFill>
            <a:schemeClr val="accent4">
              <a:alpha val="5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9219AF-9824-09D1-8DCB-2DBBCA06E1EC}"/>
              </a:ext>
            </a:extLst>
          </p:cNvPr>
          <p:cNvSpPr txBox="1"/>
          <p:nvPr/>
        </p:nvSpPr>
        <p:spPr>
          <a:xfrm>
            <a:off x="2995807" y="4188606"/>
            <a:ext cx="692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154g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0600C2-CA52-38BD-7BCA-1AAD4ABF329D}"/>
              </a:ext>
            </a:extLst>
          </p:cNvPr>
          <p:cNvGrpSpPr/>
          <p:nvPr/>
        </p:nvGrpSpPr>
        <p:grpSpPr>
          <a:xfrm>
            <a:off x="5424430" y="3219215"/>
            <a:ext cx="2753121" cy="2598586"/>
            <a:chOff x="5292762" y="3855397"/>
            <a:chExt cx="2753121" cy="259858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2359F85-5561-A4C4-4AA1-ADAA54F7B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98783" y="3855397"/>
              <a:ext cx="1082385" cy="60884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492A259-A75D-357C-40E8-A5508770E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99326" y="4742768"/>
              <a:ext cx="1081297" cy="607470"/>
            </a:xfrm>
            <a:prstGeom prst="rect">
              <a:avLst/>
            </a:prstGeom>
          </p:spPr>
        </p:pic>
        <p:sp>
          <p:nvSpPr>
            <p:cNvPr id="17" name="순서도: 수동 연산 16">
              <a:extLst>
                <a:ext uri="{FF2B5EF4-FFF2-40B4-BE49-F238E27FC236}">
                  <a16:creationId xmlns:a16="http://schemas.microsoft.com/office/drawing/2014/main" id="{25264361-9BE6-9F5C-43DD-097071046C98}"/>
                </a:ext>
              </a:extLst>
            </p:cNvPr>
            <p:cNvSpPr/>
            <p:nvPr/>
          </p:nvSpPr>
          <p:spPr>
            <a:xfrm rot="16200000">
              <a:off x="5783084" y="4837750"/>
              <a:ext cx="2348935" cy="453050"/>
            </a:xfrm>
            <a:prstGeom prst="flowChartManualOperation">
              <a:avLst/>
            </a:prstGeom>
            <a:solidFill>
              <a:schemeClr val="accent4">
                <a:alpha val="50000"/>
              </a:schemeClr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58FABCF-2BA0-46D2-1B7F-FB03BCF34A48}"/>
                </a:ext>
              </a:extLst>
            </p:cNvPr>
            <p:cNvSpPr txBox="1"/>
            <p:nvPr/>
          </p:nvSpPr>
          <p:spPr>
            <a:xfrm>
              <a:off x="7315200" y="4861837"/>
              <a:ext cx="7306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154g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3850B79-FC35-4F9E-D4A0-745CA416C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99326" y="5631274"/>
              <a:ext cx="1081297" cy="607470"/>
            </a:xfrm>
            <a:prstGeom prst="rect">
              <a:avLst/>
            </a:prstGeom>
            <a:ln w="28575">
              <a:solidFill>
                <a:srgbClr val="0000FF"/>
              </a:solidFill>
            </a:ln>
          </p:spPr>
        </p:pic>
        <p:sp>
          <p:nvSpPr>
            <p:cNvPr id="20" name="TextBox 38">
              <a:extLst>
                <a:ext uri="{FF2B5EF4-FFF2-40B4-BE49-F238E27FC236}">
                  <a16:creationId xmlns:a16="http://schemas.microsoft.com/office/drawing/2014/main" id="{076025C5-A6F9-FA7C-0EB6-665EF869A9B0}"/>
                </a:ext>
              </a:extLst>
            </p:cNvPr>
            <p:cNvSpPr txBox="1"/>
            <p:nvPr/>
          </p:nvSpPr>
          <p:spPr>
            <a:xfrm>
              <a:off x="5298781" y="4416392"/>
              <a:ext cx="1081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3</a:t>
              </a:r>
              <a:r>
                <a:rPr lang="ko-KR" altLang="en-US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일차 </a:t>
              </a:r>
              <a:r>
                <a:rPr lang="en-US" altLang="ko-KR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19</a:t>
              </a:r>
              <a:r>
                <a:rPr lang="ko-KR" altLang="en-US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시</a:t>
              </a:r>
            </a:p>
          </p:txBody>
        </p:sp>
        <p:sp>
          <p:nvSpPr>
            <p:cNvPr id="21" name="TextBox 38">
              <a:extLst>
                <a:ext uri="{FF2B5EF4-FFF2-40B4-BE49-F238E27FC236}">
                  <a16:creationId xmlns:a16="http://schemas.microsoft.com/office/drawing/2014/main" id="{FE48F34B-1261-B60B-A0DC-13C9BD26942E}"/>
                </a:ext>
              </a:extLst>
            </p:cNvPr>
            <p:cNvSpPr txBox="1"/>
            <p:nvPr/>
          </p:nvSpPr>
          <p:spPr>
            <a:xfrm>
              <a:off x="5292762" y="5309587"/>
              <a:ext cx="1081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4</a:t>
              </a:r>
              <a:r>
                <a:rPr lang="ko-KR" altLang="en-US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일차 </a:t>
              </a:r>
              <a:r>
                <a:rPr lang="en-US" altLang="ko-KR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08</a:t>
              </a:r>
              <a:r>
                <a:rPr lang="ko-KR" altLang="en-US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시</a:t>
              </a:r>
            </a:p>
          </p:txBody>
        </p:sp>
        <p:sp>
          <p:nvSpPr>
            <p:cNvPr id="22" name="TextBox 38">
              <a:extLst>
                <a:ext uri="{FF2B5EF4-FFF2-40B4-BE49-F238E27FC236}">
                  <a16:creationId xmlns:a16="http://schemas.microsoft.com/office/drawing/2014/main" id="{2128AE85-2589-53B6-A623-6767F7DF1BB0}"/>
                </a:ext>
              </a:extLst>
            </p:cNvPr>
            <p:cNvSpPr txBox="1"/>
            <p:nvPr/>
          </p:nvSpPr>
          <p:spPr>
            <a:xfrm>
              <a:off x="5299326" y="6192373"/>
              <a:ext cx="108184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4</a:t>
              </a:r>
              <a:r>
                <a:rPr lang="ko-KR" altLang="en-US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일차 </a:t>
              </a:r>
              <a:r>
                <a:rPr lang="en-US" altLang="ko-KR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19</a:t>
              </a:r>
              <a:r>
                <a:rPr lang="ko-KR" altLang="en-US" sz="1100" b="1" spc="-8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시</a:t>
              </a:r>
            </a:p>
          </p:txBody>
        </p:sp>
      </p:grpSp>
      <p:sp>
        <p:nvSpPr>
          <p:cNvPr id="23" name="텍스트 개체 틀 3">
            <a:extLst>
              <a:ext uri="{FF2B5EF4-FFF2-40B4-BE49-F238E27FC236}">
                <a16:creationId xmlns:a16="http://schemas.microsoft.com/office/drawing/2014/main" id="{5A4C41EC-DA1A-E0F4-2E7E-BC9E7B618C0F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8937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과거 정보 함께 활용 </a:t>
            </a: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작물의 시계열적 성장 과정 반영 </a:t>
            </a: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anose="05000000000000000000" pitchFamily="2" charset="2"/>
              </a:rPr>
              <a:t>생육 지표 예측 성능 향상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단일 시점이 아닌</a:t>
            </a:r>
            <a:r>
              <a:rPr lang="en-US" altLang="ko-KR" sz="1600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과거 시점 정보까지 함께 반영하여 모델링</a:t>
            </a:r>
            <a:endParaRPr lang="en-US" altLang="ko-KR" sz="1600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71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73688C-741E-D291-E8B1-2B8064D6E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3.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</a:p>
        </p:txBody>
      </p:sp>
      <p:graphicFrame>
        <p:nvGraphicFramePr>
          <p:cNvPr id="5" name="Google Shape;122;p17">
            <a:extLst>
              <a:ext uri="{FF2B5EF4-FFF2-40B4-BE49-F238E27FC236}">
                <a16:creationId xmlns:a16="http://schemas.microsoft.com/office/drawing/2014/main" id="{39F50DFB-C35B-73A3-F324-D9CBD4D86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287417"/>
              </p:ext>
            </p:extLst>
          </p:nvPr>
        </p:nvGraphicFramePr>
        <p:xfrm>
          <a:off x="1316214" y="3046898"/>
          <a:ext cx="6268158" cy="200000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44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4062693980"/>
                    </a:ext>
                  </a:extLst>
                </a:gridCol>
              </a:tblGrid>
              <a:tr h="544393">
                <a:tc rowSpan="2"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해상도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(480,270)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버터헤드</a:t>
                      </a: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2-2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로메인</a:t>
                      </a: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2-2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20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MAPE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MAPE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평균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기존 방법론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0.464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0.090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0.511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0.120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1.185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3D CNN(1)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2.030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0.248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1.337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0.179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3.794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8B6F57CB-C52F-C4ED-5FDA-716F2CB8706B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156818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실험 </a:t>
            </a:r>
            <a:r>
              <a:rPr lang="en-US" altLang="ko-KR" sz="1800" b="1" dirty="0"/>
              <a:t>1. </a:t>
            </a:r>
            <a:r>
              <a:rPr lang="ko-KR" altLang="en-US" sz="1800" b="1" dirty="0"/>
              <a:t>학습 </a:t>
            </a:r>
            <a:r>
              <a:rPr lang="en-US" altLang="ko-KR" sz="1800" b="1" dirty="0"/>
              <a:t>data </a:t>
            </a:r>
            <a:r>
              <a:rPr lang="ko-KR" altLang="en-US" sz="1800" b="1" dirty="0"/>
              <a:t>모두 사용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ea typeface="맑은 고딕" panose="020B0503020000020004" pitchFamily="50" charset="-127"/>
                <a:cs typeface="Arial" pitchFamily="34" charset="0"/>
              </a:rPr>
              <a:t>기존 </a:t>
            </a:r>
            <a:r>
              <a:rPr lang="ko-KR" altLang="en-US" sz="1600" b="1" dirty="0"/>
              <a:t>방법론보다 성능 저하</a:t>
            </a:r>
            <a:endParaRPr lang="en-US" altLang="ko-KR" sz="1600" b="1" dirty="0"/>
          </a:p>
          <a:p>
            <a:pPr marL="985838" lvl="2" indent="-300038">
              <a:lnSpc>
                <a:spcPct val="150000"/>
              </a:lnSpc>
              <a:spcBef>
                <a:spcPts val="0"/>
              </a:spcBef>
              <a:buSzPts val="1800"/>
              <a:buFont typeface="Wingdings" pitchFamily="2" charset="2"/>
              <a:buChar char="Ø"/>
            </a:pPr>
            <a:r>
              <a:rPr lang="en-US" altLang="ko-KR" sz="1600" dirty="0"/>
              <a:t>Train</a:t>
            </a:r>
            <a:r>
              <a:rPr lang="ko-KR" altLang="en-US" sz="1600" dirty="0"/>
              <a:t> </a:t>
            </a:r>
            <a:r>
              <a:rPr lang="en-US" altLang="ko-KR" sz="1600" dirty="0"/>
              <a:t>dataset</a:t>
            </a:r>
            <a:r>
              <a:rPr lang="ko-KR" altLang="en-US" sz="1600" dirty="0"/>
              <a:t>의 </a:t>
            </a:r>
            <a:r>
              <a:rPr lang="en-US" altLang="ko-KR" sz="1600" dirty="0"/>
              <a:t>window</a:t>
            </a:r>
            <a:r>
              <a:rPr lang="ko-KR" altLang="en-US" sz="1600" dirty="0"/>
              <a:t> 구성이 </a:t>
            </a:r>
            <a:r>
              <a:rPr lang="en-US" altLang="ko-KR" sz="1600" dirty="0"/>
              <a:t>Test dataset</a:t>
            </a:r>
            <a:r>
              <a:rPr lang="ko-KR" altLang="en-US" sz="1600" dirty="0"/>
              <a:t>의</a:t>
            </a:r>
            <a:r>
              <a:rPr lang="en-US" altLang="ko-KR" sz="1600" dirty="0"/>
              <a:t> window</a:t>
            </a:r>
            <a:r>
              <a:rPr lang="ko-KR" altLang="en-US" sz="1600" dirty="0"/>
              <a:t> 구성과 다르기 때문</a:t>
            </a:r>
            <a:endParaRPr lang="en-US" altLang="ko-KR" sz="1600" dirty="0"/>
          </a:p>
          <a:p>
            <a:pPr marL="985838" lvl="2" indent="-300038">
              <a:lnSpc>
                <a:spcPct val="150000"/>
              </a:lnSpc>
              <a:spcBef>
                <a:spcPts val="0"/>
              </a:spcBef>
              <a:buSzPts val="1800"/>
              <a:buFont typeface="Wingdings" pitchFamily="2" charset="2"/>
              <a:buChar char="Ø"/>
            </a:pPr>
            <a:r>
              <a:rPr lang="en-US" altLang="ko-KR" sz="1600" dirty="0">
                <a:solidFill>
                  <a:schemeClr val="tx1"/>
                </a:solidFill>
              </a:rPr>
              <a:t>Train dataset, Test dataset </a:t>
            </a:r>
            <a:r>
              <a:rPr lang="ko-KR" altLang="en-US" sz="1600" dirty="0">
                <a:solidFill>
                  <a:schemeClr val="tx1"/>
                </a:solidFill>
              </a:rPr>
              <a:t>각각 한 일자 당 두 시점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한 시점의 </a:t>
            </a:r>
            <a:r>
              <a:rPr lang="en-US" altLang="ko-KR" sz="1600" dirty="0">
                <a:solidFill>
                  <a:schemeClr val="tx1"/>
                </a:solidFill>
              </a:rPr>
              <a:t>image</a:t>
            </a:r>
            <a:r>
              <a:rPr lang="ko-KR" altLang="en-US" sz="1600" dirty="0">
                <a:solidFill>
                  <a:schemeClr val="tx1"/>
                </a:solidFill>
              </a:rPr>
              <a:t>로 구성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3BDCD-9AA3-44BD-FCD9-6CB1E3B21DBB}"/>
              </a:ext>
            </a:extLst>
          </p:cNvPr>
          <p:cNvSpPr txBox="1"/>
          <p:nvPr/>
        </p:nvSpPr>
        <p:spPr>
          <a:xfrm>
            <a:off x="225154" y="5553614"/>
            <a:ext cx="8693692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2" indent="0">
              <a:lnSpc>
                <a:spcPct val="150000"/>
              </a:lnSpc>
              <a:spcBef>
                <a:spcPts val="0"/>
              </a:spcBef>
              <a:buSzPts val="1800"/>
              <a:buNone/>
            </a:pPr>
            <a:r>
              <a:rPr lang="en-US" altLang="ko-KR" sz="1800" b="1" dirty="0">
                <a:solidFill>
                  <a:srgbClr val="C00000"/>
                </a:solidFill>
              </a:rPr>
              <a:t>-&gt;Test dataset</a:t>
            </a:r>
            <a:r>
              <a:rPr lang="ko-KR" altLang="en-US" sz="1800" b="1" dirty="0">
                <a:solidFill>
                  <a:srgbClr val="C00000"/>
                </a:solidFill>
              </a:rPr>
              <a:t>과 동일한 </a:t>
            </a:r>
            <a:r>
              <a:rPr lang="en-US" altLang="ko-KR" b="1" dirty="0">
                <a:solidFill>
                  <a:srgbClr val="C00000"/>
                </a:solidFill>
              </a:rPr>
              <a:t>Window </a:t>
            </a:r>
            <a:r>
              <a:rPr lang="ko-KR" altLang="en-US" b="1" dirty="0">
                <a:solidFill>
                  <a:srgbClr val="C00000"/>
                </a:solidFill>
              </a:rPr>
              <a:t>구성을</a:t>
            </a:r>
            <a:r>
              <a:rPr lang="ko-KR" altLang="en-US" sz="1800" b="1" dirty="0">
                <a:solidFill>
                  <a:srgbClr val="C00000"/>
                </a:solidFill>
              </a:rPr>
              <a:t> 갖도록 </a:t>
            </a:r>
            <a:r>
              <a:rPr lang="en-US" altLang="ko-KR" sz="1800" b="1" dirty="0">
                <a:solidFill>
                  <a:srgbClr val="C00000"/>
                </a:solidFill>
              </a:rPr>
              <a:t>Train dataset</a:t>
            </a:r>
            <a:r>
              <a:rPr lang="ko-KR" altLang="en-US" sz="1800" b="1" dirty="0">
                <a:solidFill>
                  <a:srgbClr val="C00000"/>
                </a:solidFill>
              </a:rPr>
              <a:t>을 조정하자</a:t>
            </a:r>
            <a:r>
              <a:rPr lang="en-US" altLang="ko-KR" sz="1800" b="1" u="sng" dirty="0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3441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17A1-1FB3-B0E0-8B53-F2BB2520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477845-9DDE-8E8A-C6C1-805D51C6E7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3.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</a:p>
        </p:txBody>
      </p:sp>
      <p:pic>
        <p:nvPicPr>
          <p:cNvPr id="7" name="그림 1">
            <a:extLst>
              <a:ext uri="{FF2B5EF4-FFF2-40B4-BE49-F238E27FC236}">
                <a16:creationId xmlns:a16="http://schemas.microsoft.com/office/drawing/2014/main" id="{2E10F4CA-A7A2-3117-40A7-17F815B9FA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6751" y="2333179"/>
            <a:ext cx="1324127" cy="792257"/>
          </a:xfrm>
          <a:prstGeom prst="rect">
            <a:avLst/>
          </a:prstGeom>
        </p:spPr>
      </p:pic>
      <p:pic>
        <p:nvPicPr>
          <p:cNvPr id="8" name="그림 5">
            <a:extLst>
              <a:ext uri="{FF2B5EF4-FFF2-40B4-BE49-F238E27FC236}">
                <a16:creationId xmlns:a16="http://schemas.microsoft.com/office/drawing/2014/main" id="{71C42231-0DC8-5009-5A24-B09833D3B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95" y="3525382"/>
            <a:ext cx="1305655" cy="792414"/>
          </a:xfrm>
          <a:prstGeom prst="rect">
            <a:avLst/>
          </a:prstGeom>
        </p:spPr>
      </p:pic>
      <p:pic>
        <p:nvPicPr>
          <p:cNvPr id="9" name="그림 7">
            <a:extLst>
              <a:ext uri="{FF2B5EF4-FFF2-40B4-BE49-F238E27FC236}">
                <a16:creationId xmlns:a16="http://schemas.microsoft.com/office/drawing/2014/main" id="{81CA2338-D2AA-2031-6A60-C5E37B2F76B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86751" y="4713738"/>
            <a:ext cx="1305238" cy="7924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6D390B-C82D-86C4-CA74-7EC876AC126A}"/>
              </a:ext>
            </a:extLst>
          </p:cNvPr>
          <p:cNvSpPr txBox="1"/>
          <p:nvPr/>
        </p:nvSpPr>
        <p:spPr>
          <a:xfrm>
            <a:off x="707830" y="3162386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6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99B44-38AF-B9FA-9FA9-DDFA2009A5E9}"/>
              </a:ext>
            </a:extLst>
          </p:cNvPr>
          <p:cNvSpPr txBox="1"/>
          <p:nvPr/>
        </p:nvSpPr>
        <p:spPr>
          <a:xfrm>
            <a:off x="707830" y="4360504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18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318DE-C3B9-B2D9-DD2E-47DD1E55D586}"/>
              </a:ext>
            </a:extLst>
          </p:cNvPr>
          <p:cNvSpPr txBox="1"/>
          <p:nvPr/>
        </p:nvSpPr>
        <p:spPr>
          <a:xfrm>
            <a:off x="707830" y="5546323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6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8A2636-3ECD-9552-D6D8-5BBD70597B52}"/>
              </a:ext>
            </a:extLst>
          </p:cNvPr>
          <p:cNvSpPr txBox="1"/>
          <p:nvPr/>
        </p:nvSpPr>
        <p:spPr>
          <a:xfrm>
            <a:off x="680624" y="1984114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E7CD5E-9E76-529C-BDF9-FFED750A5882}"/>
              </a:ext>
            </a:extLst>
          </p:cNvPr>
          <p:cNvSpPr txBox="1"/>
          <p:nvPr/>
        </p:nvSpPr>
        <p:spPr>
          <a:xfrm>
            <a:off x="2359184" y="2001554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Test</a:t>
            </a:r>
          </a:p>
        </p:txBody>
      </p:sp>
      <p:pic>
        <p:nvPicPr>
          <p:cNvPr id="21" name="그림 1">
            <a:extLst>
              <a:ext uri="{FF2B5EF4-FFF2-40B4-BE49-F238E27FC236}">
                <a16:creationId xmlns:a16="http://schemas.microsoft.com/office/drawing/2014/main" id="{7805873F-8A1F-F567-2F15-F3A8F0F8AE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71438" y="2333179"/>
            <a:ext cx="1324127" cy="792257"/>
          </a:xfrm>
          <a:prstGeom prst="rect">
            <a:avLst/>
          </a:prstGeom>
        </p:spPr>
      </p:pic>
      <p:pic>
        <p:nvPicPr>
          <p:cNvPr id="22" name="그림 5">
            <a:extLst>
              <a:ext uri="{FF2B5EF4-FFF2-40B4-BE49-F238E27FC236}">
                <a16:creationId xmlns:a16="http://schemas.microsoft.com/office/drawing/2014/main" id="{0BE478BC-8C85-3FF6-0C3E-271C54F9C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682" y="3525382"/>
            <a:ext cx="1305655" cy="792414"/>
          </a:xfrm>
          <a:prstGeom prst="rect">
            <a:avLst/>
          </a:prstGeom>
        </p:spPr>
      </p:pic>
      <p:pic>
        <p:nvPicPr>
          <p:cNvPr id="23" name="그림 7">
            <a:extLst>
              <a:ext uri="{FF2B5EF4-FFF2-40B4-BE49-F238E27FC236}">
                <a16:creationId xmlns:a16="http://schemas.microsoft.com/office/drawing/2014/main" id="{1A9F0DB8-9886-3950-D391-9AB5A6FAA38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71438" y="4713738"/>
            <a:ext cx="1305238" cy="7924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795FF8-7945-16FA-56FE-7272C70E698B}"/>
              </a:ext>
            </a:extLst>
          </p:cNvPr>
          <p:cNvSpPr txBox="1"/>
          <p:nvPr/>
        </p:nvSpPr>
        <p:spPr>
          <a:xfrm>
            <a:off x="2492517" y="3162386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E119F0-59DF-CA89-4037-F16824FB57C1}"/>
              </a:ext>
            </a:extLst>
          </p:cNvPr>
          <p:cNvSpPr txBox="1"/>
          <p:nvPr/>
        </p:nvSpPr>
        <p:spPr>
          <a:xfrm>
            <a:off x="2492517" y="4388809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31BEC4-5AA1-A6FF-C8C6-77D806553383}"/>
              </a:ext>
            </a:extLst>
          </p:cNvPr>
          <p:cNvSpPr txBox="1"/>
          <p:nvPr/>
        </p:nvSpPr>
        <p:spPr>
          <a:xfrm>
            <a:off x="2492517" y="5566462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2" name="직사각형 1">
            <a:extLst>
              <a:ext uri="{FF2B5EF4-FFF2-40B4-BE49-F238E27FC236}">
                <a16:creationId xmlns:a16="http://schemas.microsoft.com/office/drawing/2014/main" id="{AA3DA439-C8A9-BF66-98A2-0C2C3DAB168C}"/>
              </a:ext>
            </a:extLst>
          </p:cNvPr>
          <p:cNvSpPr/>
          <p:nvPr/>
        </p:nvSpPr>
        <p:spPr>
          <a:xfrm>
            <a:off x="304784" y="1814371"/>
            <a:ext cx="3987298" cy="41198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38">
            <a:extLst>
              <a:ext uri="{FF2B5EF4-FFF2-40B4-BE49-F238E27FC236}">
                <a16:creationId xmlns:a16="http://schemas.microsoft.com/office/drawing/2014/main" id="{79113485-C39E-C421-B55A-8A45EEE86486}"/>
              </a:ext>
            </a:extLst>
          </p:cNvPr>
          <p:cNvSpPr txBox="1"/>
          <p:nvPr/>
        </p:nvSpPr>
        <p:spPr>
          <a:xfrm>
            <a:off x="1915346" y="1642992"/>
            <a:ext cx="76617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실험 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</a:t>
            </a:r>
            <a:endParaRPr lang="ko-KR" altLang="en-US" sz="20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44" name="그림 1">
            <a:extLst>
              <a:ext uri="{FF2B5EF4-FFF2-40B4-BE49-F238E27FC236}">
                <a16:creationId xmlns:a16="http://schemas.microsoft.com/office/drawing/2014/main" id="{598F26A9-EDE6-FC80-87D6-E7E908CF2B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09" y="2333179"/>
            <a:ext cx="1324127" cy="792257"/>
          </a:xfrm>
          <a:prstGeom prst="rect">
            <a:avLst/>
          </a:prstGeom>
        </p:spPr>
      </p:pic>
      <p:pic>
        <p:nvPicPr>
          <p:cNvPr id="45" name="그림 5">
            <a:extLst>
              <a:ext uri="{FF2B5EF4-FFF2-40B4-BE49-F238E27FC236}">
                <a16:creationId xmlns:a16="http://schemas.microsoft.com/office/drawing/2014/main" id="{EE8E6B88-8AFE-2F1E-845F-2B50D4E7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853" y="3525382"/>
            <a:ext cx="1305655" cy="792414"/>
          </a:xfrm>
          <a:prstGeom prst="rect">
            <a:avLst/>
          </a:prstGeom>
        </p:spPr>
      </p:pic>
      <p:pic>
        <p:nvPicPr>
          <p:cNvPr id="46" name="그림 7">
            <a:extLst>
              <a:ext uri="{FF2B5EF4-FFF2-40B4-BE49-F238E27FC236}">
                <a16:creationId xmlns:a16="http://schemas.microsoft.com/office/drawing/2014/main" id="{9BF6C382-7215-0381-FB62-0660694391D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234609" y="4713738"/>
            <a:ext cx="1305238" cy="79241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91DF72A-C001-9B3C-A293-1C9E2455EDC2}"/>
              </a:ext>
            </a:extLst>
          </p:cNvPr>
          <p:cNvSpPr txBox="1"/>
          <p:nvPr/>
        </p:nvSpPr>
        <p:spPr>
          <a:xfrm>
            <a:off x="5155688" y="3162386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18</a:t>
            </a:r>
            <a:r>
              <a:rPr lang="ko-KR" altLang="en-US" sz="105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C39DCD-21CC-5F47-042D-61537F5EF8AC}"/>
              </a:ext>
            </a:extLst>
          </p:cNvPr>
          <p:cNvSpPr txBox="1"/>
          <p:nvPr/>
        </p:nvSpPr>
        <p:spPr>
          <a:xfrm>
            <a:off x="5155688" y="4388809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18</a:t>
            </a:r>
            <a:r>
              <a:rPr lang="ko-KR" altLang="en-US" sz="105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38F875-D1E2-CB68-E871-C8AA1B041A35}"/>
              </a:ext>
            </a:extLst>
          </p:cNvPr>
          <p:cNvSpPr txBox="1"/>
          <p:nvPr/>
        </p:nvSpPr>
        <p:spPr>
          <a:xfrm>
            <a:off x="5155688" y="5566462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3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18</a:t>
            </a:r>
            <a:r>
              <a:rPr lang="ko-KR" altLang="en-US" sz="1050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AFFF7D-3CD3-7CEC-2527-BD9D0C876670}"/>
              </a:ext>
            </a:extLst>
          </p:cNvPr>
          <p:cNvSpPr txBox="1"/>
          <p:nvPr/>
        </p:nvSpPr>
        <p:spPr>
          <a:xfrm>
            <a:off x="5128482" y="1984114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Train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4BE52B-402C-440B-EC74-8FE395276D8A}"/>
              </a:ext>
            </a:extLst>
          </p:cNvPr>
          <p:cNvSpPr txBox="1"/>
          <p:nvPr/>
        </p:nvSpPr>
        <p:spPr>
          <a:xfrm>
            <a:off x="6807042" y="2001554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Test</a:t>
            </a:r>
          </a:p>
        </p:txBody>
      </p:sp>
      <p:pic>
        <p:nvPicPr>
          <p:cNvPr id="52" name="그림 1">
            <a:extLst>
              <a:ext uri="{FF2B5EF4-FFF2-40B4-BE49-F238E27FC236}">
                <a16:creationId xmlns:a16="http://schemas.microsoft.com/office/drawing/2014/main" id="{052AB85D-F200-11D6-856D-FF363C6BDE7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019296" y="2333179"/>
            <a:ext cx="1324127" cy="792257"/>
          </a:xfrm>
          <a:prstGeom prst="rect">
            <a:avLst/>
          </a:prstGeom>
        </p:spPr>
      </p:pic>
      <p:pic>
        <p:nvPicPr>
          <p:cNvPr id="53" name="그림 5">
            <a:extLst>
              <a:ext uri="{FF2B5EF4-FFF2-40B4-BE49-F238E27FC236}">
                <a16:creationId xmlns:a16="http://schemas.microsoft.com/office/drawing/2014/main" id="{3492FE6A-10AE-06CA-F6E4-4D1AA1BC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40" y="3525382"/>
            <a:ext cx="1305655" cy="792414"/>
          </a:xfrm>
          <a:prstGeom prst="rect">
            <a:avLst/>
          </a:prstGeom>
        </p:spPr>
      </p:pic>
      <p:pic>
        <p:nvPicPr>
          <p:cNvPr id="54" name="그림 7">
            <a:extLst>
              <a:ext uri="{FF2B5EF4-FFF2-40B4-BE49-F238E27FC236}">
                <a16:creationId xmlns:a16="http://schemas.microsoft.com/office/drawing/2014/main" id="{09D34807-954D-B278-9A3D-52A42B415E5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019296" y="4713738"/>
            <a:ext cx="1305238" cy="79241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EE68CF2-B6E9-D067-863C-5FC23DC345A4}"/>
              </a:ext>
            </a:extLst>
          </p:cNvPr>
          <p:cNvSpPr txBox="1"/>
          <p:nvPr/>
        </p:nvSpPr>
        <p:spPr>
          <a:xfrm>
            <a:off x="6940375" y="3162386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8CD775-2F83-E422-8AC0-14350651E17B}"/>
              </a:ext>
            </a:extLst>
          </p:cNvPr>
          <p:cNvSpPr txBox="1"/>
          <p:nvPr/>
        </p:nvSpPr>
        <p:spPr>
          <a:xfrm>
            <a:off x="6940375" y="4388809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9E67D7-8FFF-3897-4AC7-6484ADCE3AB8}"/>
              </a:ext>
            </a:extLst>
          </p:cNvPr>
          <p:cNvSpPr txBox="1"/>
          <p:nvPr/>
        </p:nvSpPr>
        <p:spPr>
          <a:xfrm>
            <a:off x="6940375" y="5566462"/>
            <a:ext cx="1517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일차 </a:t>
            </a:r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12</a:t>
            </a:r>
            <a:r>
              <a:rPr lang="ko-KR" altLang="en-US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</a:t>
            </a:r>
            <a:endParaRPr lang="en-US" altLang="ko-KR" sz="105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8" name="직사각형 1">
            <a:extLst>
              <a:ext uri="{FF2B5EF4-FFF2-40B4-BE49-F238E27FC236}">
                <a16:creationId xmlns:a16="http://schemas.microsoft.com/office/drawing/2014/main" id="{74DE8DF1-2F54-F23E-02C3-8A9A726EDBA0}"/>
              </a:ext>
            </a:extLst>
          </p:cNvPr>
          <p:cNvSpPr/>
          <p:nvPr/>
        </p:nvSpPr>
        <p:spPr>
          <a:xfrm>
            <a:off x="4752642" y="1814371"/>
            <a:ext cx="3987298" cy="41198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38">
            <a:extLst>
              <a:ext uri="{FF2B5EF4-FFF2-40B4-BE49-F238E27FC236}">
                <a16:creationId xmlns:a16="http://schemas.microsoft.com/office/drawing/2014/main" id="{0E70A8A8-46D3-2A3F-6B1D-DB58C0E937D8}"/>
              </a:ext>
            </a:extLst>
          </p:cNvPr>
          <p:cNvSpPr txBox="1"/>
          <p:nvPr/>
        </p:nvSpPr>
        <p:spPr>
          <a:xfrm>
            <a:off x="6298137" y="1656481"/>
            <a:ext cx="76617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실험 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</a:t>
            </a:r>
            <a:endParaRPr lang="ko-KR" altLang="en-US" sz="20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41481C-B01C-90D9-C4A1-18E7B18F7242}"/>
              </a:ext>
            </a:extLst>
          </p:cNvPr>
          <p:cNvSpPr/>
          <p:nvPr/>
        </p:nvSpPr>
        <p:spPr>
          <a:xfrm>
            <a:off x="786751" y="4713738"/>
            <a:ext cx="1305238" cy="79241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102BA9-E910-4722-44F2-B78960918BF1}"/>
              </a:ext>
            </a:extLst>
          </p:cNvPr>
          <p:cNvSpPr/>
          <p:nvPr/>
        </p:nvSpPr>
        <p:spPr>
          <a:xfrm>
            <a:off x="5234609" y="4716963"/>
            <a:ext cx="1305238" cy="79241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96CF753-FF4C-3910-EEAE-EC468D8345B8}"/>
              </a:ext>
            </a:extLst>
          </p:cNvPr>
          <p:cNvCxnSpPr/>
          <p:nvPr/>
        </p:nvCxnSpPr>
        <p:spPr>
          <a:xfrm>
            <a:off x="2298433" y="2001554"/>
            <a:ext cx="0" cy="381882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C72D7C-8FAE-0EF6-951D-BD5C830452A7}"/>
              </a:ext>
            </a:extLst>
          </p:cNvPr>
          <p:cNvCxnSpPr/>
          <p:nvPr/>
        </p:nvCxnSpPr>
        <p:spPr>
          <a:xfrm>
            <a:off x="6752504" y="2001554"/>
            <a:ext cx="0" cy="381882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60">
            <a:extLst>
              <a:ext uri="{FF2B5EF4-FFF2-40B4-BE49-F238E27FC236}">
                <a16:creationId xmlns:a16="http://schemas.microsoft.com/office/drawing/2014/main" id="{A5FFCF6F-05AC-346D-EF3A-6A05B9AE9D9B}"/>
              </a:ext>
            </a:extLst>
          </p:cNvPr>
          <p:cNvSpPr/>
          <p:nvPr/>
        </p:nvSpPr>
        <p:spPr>
          <a:xfrm>
            <a:off x="7030540" y="4706244"/>
            <a:ext cx="1305238" cy="79241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Rectangle 60">
            <a:extLst>
              <a:ext uri="{FF2B5EF4-FFF2-40B4-BE49-F238E27FC236}">
                <a16:creationId xmlns:a16="http://schemas.microsoft.com/office/drawing/2014/main" id="{DF403DFF-83C2-15D4-34E5-F4FFA54D5CC3}"/>
              </a:ext>
            </a:extLst>
          </p:cNvPr>
          <p:cNvSpPr/>
          <p:nvPr/>
        </p:nvSpPr>
        <p:spPr>
          <a:xfrm>
            <a:off x="2552549" y="4713738"/>
            <a:ext cx="1305238" cy="79241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56001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4530-C573-D25D-3161-05DAFBA0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22;p17">
            <a:extLst>
              <a:ext uri="{FF2B5EF4-FFF2-40B4-BE49-F238E27FC236}">
                <a16:creationId xmlns:a16="http://schemas.microsoft.com/office/drawing/2014/main" id="{7132FBBB-5DA3-1371-5F54-D19BB23A44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701036"/>
              </p:ext>
            </p:extLst>
          </p:nvPr>
        </p:nvGraphicFramePr>
        <p:xfrm>
          <a:off x="1316214" y="3309546"/>
          <a:ext cx="6268158" cy="24852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44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693">
                  <a:extLst>
                    <a:ext uri="{9D8B030D-6E8A-4147-A177-3AD203B41FA5}">
                      <a16:colId xmlns:a16="http://schemas.microsoft.com/office/drawing/2014/main" val="4062693980"/>
                    </a:ext>
                  </a:extLst>
                </a:gridCol>
              </a:tblGrid>
              <a:tr h="544393">
                <a:tc rowSpan="2"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해상도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(480,270)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버터헤드</a:t>
                      </a: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2-2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로메인</a:t>
                      </a: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2-2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20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MAPE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MAPE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평균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기존 방법론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0.464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0.090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0.511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0.120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0.296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3D CNN(1)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2.030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0.248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1.337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0.179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0.949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3D CNN(2)</a:t>
                      </a:r>
                    </a:p>
                  </a:txBody>
                  <a:tcPr marL="21431" marR="21431" marT="14288" marB="14288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0.885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0.112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0.734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0.104</a:t>
                      </a:r>
                      <a:endParaRPr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kern="1200" spc="-88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0.459</a:t>
                      </a:r>
                      <a:endParaRPr lang="ko-KR" altLang="en-US" sz="1400" b="1" kern="1200" spc="-88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112965"/>
                  </a:ext>
                </a:extLst>
              </a:tr>
            </a:tbl>
          </a:graphicData>
        </a:graphic>
      </p:graphicFrame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0834831-B68D-3C08-AD6C-B42E71A28CE7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725076" cy="19375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실험</a:t>
            </a:r>
            <a:r>
              <a:rPr lang="en-US" altLang="ko-KR" sz="1800" b="1" dirty="0"/>
              <a:t>2. </a:t>
            </a:r>
            <a:r>
              <a:rPr lang="ko-KR" altLang="en-US" sz="1800" b="1" dirty="0"/>
              <a:t>학습 </a:t>
            </a:r>
            <a:r>
              <a:rPr lang="en-US" altLang="ko-KR" sz="1800" b="1" dirty="0"/>
              <a:t>data </a:t>
            </a:r>
            <a:r>
              <a:rPr lang="ko-KR" altLang="en-US" sz="1800" b="1" dirty="0"/>
              <a:t>절반 사용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ko-KR" altLang="en-US" sz="1600" dirty="0"/>
              <a:t>학습 </a:t>
            </a:r>
            <a:r>
              <a:rPr lang="en-US" altLang="ko-KR" sz="1600" dirty="0"/>
              <a:t>data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모두 사용했을 때보단 성능 개선</a:t>
            </a:r>
            <a:r>
              <a:rPr lang="en-US" altLang="ko-KR" sz="1600" dirty="0"/>
              <a:t>, but </a:t>
            </a:r>
            <a:r>
              <a:rPr lang="ko-KR" altLang="en-US" sz="1600" dirty="0"/>
              <a:t>기존 방법론보다 여전히 성능 저하</a:t>
            </a:r>
            <a:endParaRPr lang="en-US" altLang="ko-KR" sz="1600" dirty="0"/>
          </a:p>
          <a:p>
            <a:pPr marL="985838" lvl="2" indent="-300038">
              <a:lnSpc>
                <a:spcPct val="150000"/>
              </a:lnSpc>
              <a:spcBef>
                <a:spcPts val="0"/>
              </a:spcBef>
              <a:buSzPts val="1800"/>
              <a:buFont typeface="Wingdings" pitchFamily="2" charset="2"/>
              <a:buChar char="Ø"/>
            </a:pPr>
            <a:r>
              <a:rPr lang="en-US" altLang="ko-KR" sz="1600" dirty="0"/>
              <a:t>Test data</a:t>
            </a:r>
            <a:r>
              <a:rPr lang="ko-KR" altLang="en-US" sz="1600" dirty="0"/>
              <a:t>와 동일한</a:t>
            </a:r>
            <a:r>
              <a:rPr lang="en-US" altLang="ko-KR" sz="1600" dirty="0"/>
              <a:t> window</a:t>
            </a:r>
            <a:r>
              <a:rPr lang="ko-KR" altLang="en-US" sz="1600" dirty="0"/>
              <a:t> 구성으로 학습을 진행하였기에 성능이 개선되었음</a:t>
            </a:r>
            <a:endParaRPr lang="en-US" altLang="ko-KR" sz="1600" dirty="0"/>
          </a:p>
          <a:p>
            <a:pPr marL="985838" lvl="2" indent="-300038">
              <a:lnSpc>
                <a:spcPct val="150000"/>
              </a:lnSpc>
              <a:spcBef>
                <a:spcPts val="0"/>
              </a:spcBef>
              <a:buSzPts val="1800"/>
              <a:buFont typeface="Wingdings" pitchFamily="2" charset="2"/>
              <a:buChar char="Ø"/>
            </a:pPr>
            <a:r>
              <a:rPr lang="ko-KR" altLang="en-US" sz="1600" dirty="0">
                <a:solidFill>
                  <a:schemeClr val="tx1"/>
                </a:solidFill>
              </a:rPr>
              <a:t>그러나 </a:t>
            </a:r>
            <a:r>
              <a:rPr lang="ko-KR" altLang="en-US" sz="1600" b="1" dirty="0">
                <a:solidFill>
                  <a:srgbClr val="C00000"/>
                </a:solidFill>
              </a:rPr>
              <a:t>학습 </a:t>
            </a:r>
            <a:r>
              <a:rPr lang="en-US" altLang="ko-KR" sz="1600" b="1" dirty="0">
                <a:solidFill>
                  <a:srgbClr val="C00000"/>
                </a:solidFill>
              </a:rPr>
              <a:t>data</a:t>
            </a:r>
            <a:r>
              <a:rPr lang="ko-KR" altLang="en-US" sz="1600" b="1" dirty="0">
                <a:solidFill>
                  <a:srgbClr val="C00000"/>
                </a:solidFill>
              </a:rPr>
              <a:t>가 </a:t>
            </a:r>
            <a:r>
              <a:rPr lang="en-US" altLang="ko-KR" sz="1600" b="1" dirty="0">
                <a:solidFill>
                  <a:srgbClr val="C00000"/>
                </a:solidFill>
              </a:rPr>
              <a:t>99(</a:t>
            </a:r>
            <a:r>
              <a:rPr lang="ko-KR" altLang="en-US" sz="1600" b="1" dirty="0">
                <a:solidFill>
                  <a:srgbClr val="C00000"/>
                </a:solidFill>
              </a:rPr>
              <a:t>로메인</a:t>
            </a:r>
            <a:r>
              <a:rPr lang="en-US" altLang="ko-KR" sz="1600" b="1" dirty="0">
                <a:solidFill>
                  <a:srgbClr val="C00000"/>
                </a:solidFill>
              </a:rPr>
              <a:t>)/117(</a:t>
            </a:r>
            <a:r>
              <a:rPr lang="ko-KR" altLang="en-US" sz="1600" b="1" dirty="0">
                <a:solidFill>
                  <a:srgbClr val="C00000"/>
                </a:solidFill>
              </a:rPr>
              <a:t>버터헤드</a:t>
            </a:r>
            <a:r>
              <a:rPr lang="en-US" altLang="ko-KR" sz="1600" b="1" dirty="0">
                <a:solidFill>
                  <a:srgbClr val="C00000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개로 더 적어졌기에 </a:t>
            </a:r>
            <a:r>
              <a:rPr lang="ko-KR" altLang="en-US" sz="1600" dirty="0"/>
              <a:t>충분한</a:t>
            </a:r>
            <a:r>
              <a:rPr lang="ko-KR" altLang="en-US" sz="1600" dirty="0">
                <a:solidFill>
                  <a:schemeClr val="tx1"/>
                </a:solidFill>
              </a:rPr>
              <a:t> 학습이 되지 않아 기존 방법론보다 성능이 저하됨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0A0650A-D431-E8A9-7ACB-02368D97B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3220724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9DD8D3F-BF79-0B07-0E51-3EA20F2FB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24" y="2907555"/>
            <a:ext cx="4047476" cy="2397446"/>
          </a:xfrm>
          <a:prstGeom prst="rect">
            <a:avLst/>
          </a:prstGeom>
        </p:spPr>
      </p:pic>
      <p:pic>
        <p:nvPicPr>
          <p:cNvPr id="6" name="그림 6">
            <a:extLst>
              <a:ext uri="{FF2B5EF4-FFF2-40B4-BE49-F238E27FC236}">
                <a16:creationId xmlns:a16="http://schemas.microsoft.com/office/drawing/2014/main" id="{69936179-44AE-41AF-0644-EC4A7670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600" y="2931830"/>
            <a:ext cx="4047476" cy="2384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C41457-0964-6B37-C338-922B008D4649}"/>
              </a:ext>
            </a:extLst>
          </p:cNvPr>
          <p:cNvSpPr txBox="1"/>
          <p:nvPr/>
        </p:nvSpPr>
        <p:spPr>
          <a:xfrm>
            <a:off x="1858743" y="1853174"/>
            <a:ext cx="5637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비슷한 양상을 띄나</a:t>
            </a:r>
            <a:endParaRPr lang="en-US" altLang="ko-KR" sz="16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True Label 11</a:t>
            </a:r>
            <a:r>
              <a:rPr lang="ko-KR" altLang="en-US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의 경우 예측 성능이 크게 저하된다는 문제점</a:t>
            </a:r>
            <a:endParaRPr lang="en-KR" sz="1200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" name="순서도: 연결자 10">
            <a:extLst>
              <a:ext uri="{FF2B5EF4-FFF2-40B4-BE49-F238E27FC236}">
                <a16:creationId xmlns:a16="http://schemas.microsoft.com/office/drawing/2014/main" id="{9DEBB42A-4FC1-046B-694A-ED811D354FC8}"/>
              </a:ext>
            </a:extLst>
          </p:cNvPr>
          <p:cNvSpPr/>
          <p:nvPr/>
        </p:nvSpPr>
        <p:spPr>
          <a:xfrm>
            <a:off x="3765314" y="3781057"/>
            <a:ext cx="806686" cy="882713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0" name="순서도: 연결자 11">
            <a:extLst>
              <a:ext uri="{FF2B5EF4-FFF2-40B4-BE49-F238E27FC236}">
                <a16:creationId xmlns:a16="http://schemas.microsoft.com/office/drawing/2014/main" id="{9EE12163-6829-03EE-5542-7B02FB4B9A93}"/>
              </a:ext>
            </a:extLst>
          </p:cNvPr>
          <p:cNvSpPr/>
          <p:nvPr/>
        </p:nvSpPr>
        <p:spPr>
          <a:xfrm>
            <a:off x="8036027" y="3292169"/>
            <a:ext cx="689049" cy="1860488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7C26A74E-644B-6878-5F70-574230B3F5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29DC68E0-97FF-7018-A633-500745CCFC7F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82952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>
                <a:latin typeface="+mj-ea"/>
                <a:ea typeface="+mj-ea"/>
              </a:rPr>
              <a:t>로메인 </a:t>
            </a:r>
            <a:r>
              <a:rPr lang="en-US" altLang="ko-KR" sz="1800" b="1" dirty="0">
                <a:latin typeface="+mj-ea"/>
                <a:ea typeface="+mj-ea"/>
              </a:rPr>
              <a:t>2</a:t>
            </a:r>
            <a:r>
              <a:rPr lang="ko-KR" altLang="en-US" sz="1800" b="1" dirty="0">
                <a:latin typeface="+mj-ea"/>
                <a:ea typeface="+mj-ea"/>
              </a:rPr>
              <a:t>차 재배 </a:t>
            </a:r>
            <a:r>
              <a:rPr lang="en-US" altLang="ko-KR" sz="1800" b="1" dirty="0">
                <a:latin typeface="+mj-ea"/>
                <a:ea typeface="+mj-ea"/>
              </a:rPr>
              <a:t>2</a:t>
            </a:r>
            <a:r>
              <a:rPr lang="ko-KR" altLang="en-US" sz="1800" b="1" dirty="0">
                <a:latin typeface="+mj-ea"/>
                <a:ea typeface="+mj-ea"/>
              </a:rPr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+mj-ea"/>
              <a:ea typeface="+mj-ea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>
                <a:latin typeface="+mj-ea"/>
                <a:ea typeface="+mj-ea"/>
              </a:rPr>
              <a:t>True Label(</a:t>
            </a:r>
            <a:r>
              <a:rPr lang="ko-KR" altLang="en-US" sz="1600" dirty="0">
                <a:latin typeface="+mj-ea"/>
                <a:ea typeface="+mj-ea"/>
              </a:rPr>
              <a:t>일자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r>
              <a:rPr lang="ko-KR" altLang="en-US" sz="1600" dirty="0">
                <a:latin typeface="+mj-ea"/>
                <a:ea typeface="+mj-ea"/>
              </a:rPr>
              <a:t>별 </a:t>
            </a:r>
            <a:r>
              <a:rPr lang="en-US" altLang="ko-KR" sz="1600" dirty="0">
                <a:latin typeface="+mj-ea"/>
                <a:ea typeface="+mj-ea"/>
              </a:rPr>
              <a:t>Difference</a:t>
            </a:r>
            <a:r>
              <a:rPr lang="ko-KR" altLang="en-US" sz="1600" dirty="0">
                <a:latin typeface="+mj-ea"/>
                <a:ea typeface="+mj-ea"/>
              </a:rPr>
              <a:t> 시각화</a:t>
            </a:r>
            <a:endParaRPr lang="en-US" altLang="ko-KR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56328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911A-62F0-72CA-850D-0B649C77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4C363E6-AEB7-972F-719D-EAEB988D6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24147366-E595-67A5-7F59-0C2D2BF484B1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82958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로메인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차 재배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/>
              <a:t>True Label(</a:t>
            </a:r>
            <a:r>
              <a:rPr lang="ko-KR" altLang="en-US" sz="1600" dirty="0"/>
              <a:t>일자</a:t>
            </a:r>
            <a:r>
              <a:rPr lang="en-US" altLang="ko-KR" sz="1600" dirty="0"/>
              <a:t>)</a:t>
            </a:r>
            <a:r>
              <a:rPr lang="ko-KR" altLang="en-US" sz="1600" dirty="0"/>
              <a:t>별 </a:t>
            </a:r>
            <a:r>
              <a:rPr lang="en-US" altLang="ko-KR" sz="1600" dirty="0"/>
              <a:t>Mean Difference </a:t>
            </a:r>
            <a:r>
              <a:rPr lang="ko-KR" altLang="en-US" sz="1600" dirty="0"/>
              <a:t>시각화</a:t>
            </a:r>
            <a:endParaRPr lang="en-US" altLang="ko-KR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5E6F91-E047-B189-C3A3-47AFDA86F3F1}"/>
              </a:ext>
            </a:extLst>
          </p:cNvPr>
          <p:cNvSpPr txBox="1"/>
          <p:nvPr/>
        </p:nvSpPr>
        <p:spPr>
          <a:xfrm>
            <a:off x="1857025" y="1833067"/>
            <a:ext cx="5429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3D CNN</a:t>
            </a:r>
            <a:r>
              <a:rPr lang="ko-KR" altLang="en-US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 기존 모델보다</a:t>
            </a:r>
            <a:endParaRPr lang="en-US" altLang="ko-KR" sz="1600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대부분 </a:t>
            </a:r>
            <a:r>
              <a:rPr lang="en-US" altLang="ko-KR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Mean difference </a:t>
            </a:r>
            <a:r>
              <a:rPr lang="ko-KR" altLang="en-US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값이 더 작음</a:t>
            </a:r>
            <a:endParaRPr lang="en-US" altLang="ko-KR" sz="16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-&gt;True label</a:t>
            </a:r>
            <a:r>
              <a:rPr lang="ko-KR" altLang="en-US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보다 더 작게 예측하는 경향이 커짐</a:t>
            </a:r>
            <a:endParaRPr lang="en-US" altLang="ko-KR" sz="16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Q. 3DCNN</a:t>
            </a:r>
            <a:r>
              <a:rPr lang="ko-KR" altLang="en-US" sz="16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모델의 문제인가</a:t>
            </a:r>
            <a:r>
              <a:rPr lang="en-US" altLang="ko-KR" sz="16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</a:p>
        </p:txBody>
      </p:sp>
      <p:pic>
        <p:nvPicPr>
          <p:cNvPr id="3" name="그림 8">
            <a:extLst>
              <a:ext uri="{FF2B5EF4-FFF2-40B4-BE49-F238E27FC236}">
                <a16:creationId xmlns:a16="http://schemas.microsoft.com/office/drawing/2014/main" id="{7429FBEA-9F38-6490-730E-9A2985FA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285" y="3130767"/>
            <a:ext cx="4382732" cy="2528686"/>
          </a:xfrm>
          <a:prstGeom prst="rect">
            <a:avLst/>
          </a:prstGeom>
        </p:spPr>
      </p:pic>
      <p:pic>
        <p:nvPicPr>
          <p:cNvPr id="4" name="그림 10">
            <a:extLst>
              <a:ext uri="{FF2B5EF4-FFF2-40B4-BE49-F238E27FC236}">
                <a16:creationId xmlns:a16="http://schemas.microsoft.com/office/drawing/2014/main" id="{815F3B16-9D69-0424-5CAD-AA97A2203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" y="3072895"/>
            <a:ext cx="4524017" cy="258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21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250186-23E1-E240-7204-F0EC65897D9A}"/>
              </a:ext>
            </a:extLst>
          </p:cNvPr>
          <p:cNvSpPr txBox="1"/>
          <p:nvPr/>
        </p:nvSpPr>
        <p:spPr>
          <a:xfrm>
            <a:off x="1965107" y="1861842"/>
            <a:ext cx="52137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모든 작물에 대해 </a:t>
            </a:r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prediction 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값이 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지속적으로 감소하는 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경향은 살펴볼 수 없었음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u="sng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선형적으로 증가하는 형태</a:t>
            </a:r>
            <a:endParaRPr lang="en-US" altLang="ko-KR" sz="1400" b="1" u="sng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A. 3D CNN 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모델 자체의 문제는 아니라고 판단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데이터의 한계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학습 데이터 수 부족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가려짐 현상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</p:txBody>
      </p:sp>
      <p:pic>
        <p:nvPicPr>
          <p:cNvPr id="7" name="그림 12">
            <a:extLst>
              <a:ext uri="{FF2B5EF4-FFF2-40B4-BE49-F238E27FC236}">
                <a16:creationId xmlns:a16="http://schemas.microsoft.com/office/drawing/2014/main" id="{2D5F9B64-6CC0-21DF-9B86-B637B8D76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0" y="3429000"/>
            <a:ext cx="3969228" cy="2562636"/>
          </a:xfrm>
          <a:prstGeom prst="rect">
            <a:avLst/>
          </a:prstGeom>
        </p:spPr>
      </p:pic>
      <p:pic>
        <p:nvPicPr>
          <p:cNvPr id="8" name="그림 14">
            <a:extLst>
              <a:ext uri="{FF2B5EF4-FFF2-40B4-BE49-F238E27FC236}">
                <a16:creationId xmlns:a16="http://schemas.microsoft.com/office/drawing/2014/main" id="{CC610F00-CF2A-962B-72BF-419875EF5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29000"/>
            <a:ext cx="3969228" cy="2568839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1A8D242-48B7-C87F-1F0E-58C8FE85E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463EA957-A0B5-306F-21F1-269C4A359694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82958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로메인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차 재배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/>
              <a:t>Plant number</a:t>
            </a:r>
            <a:r>
              <a:rPr lang="ko-KR" altLang="en-US" sz="1600" dirty="0"/>
              <a:t>별 예측 값 시각화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37121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C55C2-0E21-74B8-4E2D-DFD94408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4CFC9D6-71FA-958A-4821-49ED78D573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CCB27B17-B101-DD58-5F8D-716A465F3929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119885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버터헤드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차 재배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/>
              <a:t>True label(</a:t>
            </a:r>
            <a:r>
              <a:rPr lang="ko-KR" altLang="en-US" sz="1600" dirty="0"/>
              <a:t>일자</a:t>
            </a:r>
            <a:r>
              <a:rPr lang="en-US" altLang="ko-KR" sz="1600" dirty="0"/>
              <a:t>)</a:t>
            </a:r>
            <a:r>
              <a:rPr lang="ko-KR" altLang="en-US" sz="1600" dirty="0"/>
              <a:t>별 </a:t>
            </a:r>
            <a:r>
              <a:rPr lang="en-US" altLang="ko-KR" sz="1600" dirty="0">
                <a:latin typeface="+mj-ea"/>
                <a:ea typeface="+mj-ea"/>
              </a:rPr>
              <a:t>Difference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dirty="0"/>
              <a:t>시각화</a:t>
            </a:r>
            <a:endParaRPr lang="en-US" altLang="ko-KR" sz="1600" dirty="0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SzPts val="1800"/>
              <a:buNone/>
            </a:pPr>
            <a:endParaRPr lang="en-US" altLang="ko-KR" sz="1600" b="1" dirty="0"/>
          </a:p>
        </p:txBody>
      </p:sp>
      <p:pic>
        <p:nvPicPr>
          <p:cNvPr id="2" name="그림 3">
            <a:extLst>
              <a:ext uri="{FF2B5EF4-FFF2-40B4-BE49-F238E27FC236}">
                <a16:creationId xmlns:a16="http://schemas.microsoft.com/office/drawing/2014/main" id="{5A93D8EB-88AE-7BEF-00A1-2B7972770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69" y="3115156"/>
            <a:ext cx="4068223" cy="2358920"/>
          </a:xfrm>
          <a:prstGeom prst="rect">
            <a:avLst/>
          </a:prstGeom>
        </p:spPr>
      </p:pic>
      <p:pic>
        <p:nvPicPr>
          <p:cNvPr id="3" name="그림 13">
            <a:extLst>
              <a:ext uri="{FF2B5EF4-FFF2-40B4-BE49-F238E27FC236}">
                <a16:creationId xmlns:a16="http://schemas.microsoft.com/office/drawing/2014/main" id="{D64D3AFD-22DA-F01D-07B8-AF2DFEE31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62" y="3062194"/>
            <a:ext cx="4164488" cy="2411882"/>
          </a:xfrm>
          <a:prstGeom prst="rect">
            <a:avLst/>
          </a:prstGeom>
        </p:spPr>
      </p:pic>
      <p:sp>
        <p:nvSpPr>
          <p:cNvPr id="4" name="순서도: 연결자 1">
            <a:extLst>
              <a:ext uri="{FF2B5EF4-FFF2-40B4-BE49-F238E27FC236}">
                <a16:creationId xmlns:a16="http://schemas.microsoft.com/office/drawing/2014/main" id="{8DC025E5-9E6B-2289-F90F-3BB776C20E14}"/>
              </a:ext>
            </a:extLst>
          </p:cNvPr>
          <p:cNvSpPr/>
          <p:nvPr/>
        </p:nvSpPr>
        <p:spPr>
          <a:xfrm>
            <a:off x="3860656" y="4228171"/>
            <a:ext cx="711344" cy="648806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5" name="순서도: 연결자 2">
            <a:extLst>
              <a:ext uri="{FF2B5EF4-FFF2-40B4-BE49-F238E27FC236}">
                <a16:creationId xmlns:a16="http://schemas.microsoft.com/office/drawing/2014/main" id="{631C86FD-6BE5-56B8-4105-A3DEFDC50506}"/>
              </a:ext>
            </a:extLst>
          </p:cNvPr>
          <p:cNvSpPr/>
          <p:nvPr/>
        </p:nvSpPr>
        <p:spPr>
          <a:xfrm>
            <a:off x="8025144" y="3782777"/>
            <a:ext cx="806686" cy="1539593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EDB93-8B91-03A2-1CF4-27307FB612FB}"/>
              </a:ext>
            </a:extLst>
          </p:cNvPr>
          <p:cNvSpPr txBox="1"/>
          <p:nvPr/>
        </p:nvSpPr>
        <p:spPr>
          <a:xfrm>
            <a:off x="1340381" y="1889299"/>
            <a:ext cx="6463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비슷한 양상을 띄나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True Label 13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의 경우 예측 성능이 크게 저하된다는 문제점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(Label number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가 커질수록 성능 저하 현상 두드러짐</a:t>
            </a:r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endParaRPr lang="en-US" altLang="ko-KR" sz="1400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8028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8065-871B-2512-45F9-B0BC932C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47016AA-6135-0B57-1814-5DD2B33E4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5AFF2860-E0C4-0589-9B9C-41E18733C297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119885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버터헤드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차 재배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28650" lvl="1" indent="-28575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/>
              <a:t>True Label(</a:t>
            </a:r>
            <a:r>
              <a:rPr lang="ko-KR" altLang="en-US" sz="1600" dirty="0"/>
              <a:t>일자</a:t>
            </a:r>
            <a:r>
              <a:rPr lang="en-US" altLang="ko-KR" sz="1600" dirty="0"/>
              <a:t>)</a:t>
            </a:r>
            <a:r>
              <a:rPr lang="ko-KR" altLang="en-US" sz="1600" dirty="0"/>
              <a:t>별 </a:t>
            </a:r>
            <a:r>
              <a:rPr lang="en-US" altLang="ko-KR" sz="1600" dirty="0"/>
              <a:t>Mean Difference </a:t>
            </a:r>
            <a:r>
              <a:rPr lang="ko-KR" altLang="en-US" sz="1600" dirty="0"/>
              <a:t>시각화</a:t>
            </a:r>
            <a:endParaRPr lang="en-US" altLang="ko-KR" sz="1600" dirty="0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SzPts val="1800"/>
              <a:buNone/>
            </a:pPr>
            <a:endParaRPr lang="en-US" altLang="ko-KR" sz="1600" b="1" dirty="0"/>
          </a:p>
        </p:txBody>
      </p:sp>
      <p:pic>
        <p:nvPicPr>
          <p:cNvPr id="6" name="그림 2">
            <a:extLst>
              <a:ext uri="{FF2B5EF4-FFF2-40B4-BE49-F238E27FC236}">
                <a16:creationId xmlns:a16="http://schemas.microsoft.com/office/drawing/2014/main" id="{ED8C1835-64F0-83E7-9EC0-353024C8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8" y="3410081"/>
            <a:ext cx="4515126" cy="2597825"/>
          </a:xfrm>
          <a:prstGeom prst="rect">
            <a:avLst/>
          </a:prstGeom>
        </p:spPr>
      </p:pic>
      <p:pic>
        <p:nvPicPr>
          <p:cNvPr id="7" name="그림 5">
            <a:extLst>
              <a:ext uri="{FF2B5EF4-FFF2-40B4-BE49-F238E27FC236}">
                <a16:creationId xmlns:a16="http://schemas.microsoft.com/office/drawing/2014/main" id="{7239EBEB-7A6A-B4AD-85A7-0B0B4E3CA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20" y="3423432"/>
            <a:ext cx="4343508" cy="2571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241D14-02B0-F060-DEBB-675DCD6096C8}"/>
              </a:ext>
            </a:extLst>
          </p:cNvPr>
          <p:cNvSpPr txBox="1"/>
          <p:nvPr/>
        </p:nvSpPr>
        <p:spPr>
          <a:xfrm>
            <a:off x="2504134" y="2027906"/>
            <a:ext cx="46466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마찬가지로 </a:t>
            </a:r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3D CNN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 기존 모델보다</a:t>
            </a:r>
            <a:endParaRPr lang="en-US" altLang="ko-KR" sz="1100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대부분 </a:t>
            </a:r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Mean difference 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값이 더 작음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-&gt;True label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보다 더 작게 예측하는 경향이 커짐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3DCNN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모델 자체의 문제는 아닐 것이라 판단</a:t>
            </a:r>
            <a:endParaRPr lang="en-US" altLang="ko-KR" sz="1400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674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9B39-DB98-AA27-150B-2C406080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408AE97-9BFC-2D67-2C83-D58E55C793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B2D1745F-1A3B-61C1-9116-A5864FF50C1B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156818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버터헤드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차 재배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/>
              <a:t>Plant number</a:t>
            </a:r>
            <a:r>
              <a:rPr lang="ko-KR" altLang="en-US" sz="1600" dirty="0"/>
              <a:t>별 </a:t>
            </a:r>
            <a:r>
              <a:rPr lang="en-US" altLang="ko-KR" sz="1600" dirty="0"/>
              <a:t>Prediction </a:t>
            </a:r>
            <a:r>
              <a:rPr lang="ko-KR" altLang="en-US" sz="1600" dirty="0"/>
              <a:t>시각화</a:t>
            </a:r>
            <a:endParaRPr lang="en-US" altLang="ko-KR" sz="1600" dirty="0"/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  <a:buFont typeface="Wingdings" pitchFamily="2" charset="2"/>
              <a:buChar char="Ø"/>
            </a:pPr>
            <a:endParaRPr lang="en-US" altLang="ko-KR" sz="1600" b="1" dirty="0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SzPts val="1800"/>
              <a:buNone/>
            </a:pPr>
            <a:endParaRPr lang="en-US" altLang="ko-KR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52206-7339-F272-6713-FBCDDEAC7835}"/>
              </a:ext>
            </a:extLst>
          </p:cNvPr>
          <p:cNvSpPr txBox="1"/>
          <p:nvPr/>
        </p:nvSpPr>
        <p:spPr>
          <a:xfrm>
            <a:off x="1889174" y="1833504"/>
            <a:ext cx="53736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모든 작물에 대해 </a:t>
            </a:r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prediction 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값이 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지속적으로 감소하는 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경향은 살펴볼 수 없었음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u="sng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선형적으로 증가하는 형태</a:t>
            </a:r>
            <a:endParaRPr lang="en-US" altLang="ko-KR" sz="1400" b="1" u="sng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그러나 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R5 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작물에 대한 관찰 필요할 것이라 판단</a:t>
            </a:r>
            <a:endParaRPr lang="en-US" altLang="ko-KR" sz="1400" b="1" dirty="0">
              <a:solidFill>
                <a:srgbClr val="FF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3" name="그림 4">
            <a:extLst>
              <a:ext uri="{FF2B5EF4-FFF2-40B4-BE49-F238E27FC236}">
                <a16:creationId xmlns:a16="http://schemas.microsoft.com/office/drawing/2014/main" id="{DDD59925-AFFC-7406-6069-85F6015F7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06214"/>
            <a:ext cx="4189912" cy="2701692"/>
          </a:xfrm>
          <a:prstGeom prst="rect">
            <a:avLst/>
          </a:prstGeom>
        </p:spPr>
      </p:pic>
      <p:pic>
        <p:nvPicPr>
          <p:cNvPr id="4" name="그림 6">
            <a:extLst>
              <a:ext uri="{FF2B5EF4-FFF2-40B4-BE49-F238E27FC236}">
                <a16:creationId xmlns:a16="http://schemas.microsoft.com/office/drawing/2014/main" id="{E580696D-93A0-E840-FCF6-B1A6CA0AD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11" y="3296741"/>
            <a:ext cx="4106277" cy="2720639"/>
          </a:xfrm>
          <a:prstGeom prst="rect">
            <a:avLst/>
          </a:prstGeom>
        </p:spPr>
      </p:pic>
      <p:sp>
        <p:nvSpPr>
          <p:cNvPr id="5" name="순서도: 연결자 15">
            <a:extLst>
              <a:ext uri="{FF2B5EF4-FFF2-40B4-BE49-F238E27FC236}">
                <a16:creationId xmlns:a16="http://schemas.microsoft.com/office/drawing/2014/main" id="{4BE1F8A2-54E0-F29B-676F-89E3C9BA30D7}"/>
              </a:ext>
            </a:extLst>
          </p:cNvPr>
          <p:cNvSpPr/>
          <p:nvPr/>
        </p:nvSpPr>
        <p:spPr>
          <a:xfrm>
            <a:off x="6612409" y="4034363"/>
            <a:ext cx="1300740" cy="6552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4274428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BBA3-57E7-5859-AA51-C5C5C7CF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704AE25-E99D-F713-7625-F12C791E8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4.</a:t>
            </a:r>
            <a:r>
              <a:rPr lang="ko-KR" altLang="en-US" dirty="0">
                <a:solidFill>
                  <a:srgbClr val="404040"/>
                </a:solidFill>
              </a:rPr>
              <a:t> 시계열 모델링</a:t>
            </a:r>
            <a:r>
              <a:rPr lang="en-US" altLang="ko-KR" dirty="0">
                <a:solidFill>
                  <a:srgbClr val="404040"/>
                </a:solidFill>
              </a:rPr>
              <a:t> </a:t>
            </a:r>
            <a:r>
              <a:rPr lang="ko-KR" altLang="en-US" dirty="0">
                <a:solidFill>
                  <a:srgbClr val="404040"/>
                </a:solidFill>
              </a:rPr>
              <a:t>실험 결과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D8F8F0C5-C2B8-8A16-6771-EBA5E08E2FF8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817057" cy="82958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2" indent="-4000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en-US" sz="1800" b="1" dirty="0"/>
              <a:t>버터헤드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차 재배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판 실험 결과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ea typeface="맑은 고딕" panose="020B0503020000020004" pitchFamily="50" charset="-127"/>
              <a:cs typeface="Arial" pitchFamily="34" charset="0"/>
            </a:endParaRPr>
          </a:p>
          <a:p>
            <a:pPr marL="642938" lvl="1" indent="-300038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altLang="ko-KR" sz="1600" dirty="0"/>
              <a:t>R5 </a:t>
            </a:r>
            <a:r>
              <a:rPr lang="ko-KR" altLang="en-US" sz="1600" dirty="0"/>
              <a:t>작물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38DC1-6364-8972-9793-6C2D968115D9}"/>
              </a:ext>
            </a:extLst>
          </p:cNvPr>
          <p:cNvSpPr txBox="1"/>
          <p:nvPr/>
        </p:nvSpPr>
        <p:spPr>
          <a:xfrm>
            <a:off x="2254142" y="1755458"/>
            <a:ext cx="46357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일자별 작물의 크기가 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증가할 것이라는 예상과는 다르게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가려진 작물의 사진이 </a:t>
            </a:r>
            <a:r>
              <a:rPr lang="en-US" altLang="ko-KR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input</a:t>
            </a:r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으로 들어간 것을 확인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데이터의 한계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가려짐 현상</a:t>
            </a:r>
            <a:r>
              <a:rPr lang="en-US" altLang="ko-KR" sz="1400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US" altLang="ko-KR" sz="14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7" name="그림 13">
            <a:extLst>
              <a:ext uri="{FF2B5EF4-FFF2-40B4-BE49-F238E27FC236}">
                <a16:creationId xmlns:a16="http://schemas.microsoft.com/office/drawing/2014/main" id="{FF15551D-F3E3-2BCF-7FDD-C8DA9D8904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4834" y="3241973"/>
            <a:ext cx="2314978" cy="2436239"/>
          </a:xfrm>
          <a:prstGeom prst="rect">
            <a:avLst/>
          </a:prstGeom>
        </p:spPr>
      </p:pic>
      <p:pic>
        <p:nvPicPr>
          <p:cNvPr id="8" name="그림 2">
            <a:extLst>
              <a:ext uri="{FF2B5EF4-FFF2-40B4-BE49-F238E27FC236}">
                <a16:creationId xmlns:a16="http://schemas.microsoft.com/office/drawing/2014/main" id="{214F8952-C711-AC81-C76B-07F4F693A26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560999" y="3241973"/>
            <a:ext cx="2313900" cy="2435400"/>
          </a:xfrm>
          <a:prstGeom prst="rect">
            <a:avLst/>
          </a:prstGeom>
        </p:spPr>
      </p:pic>
      <p:pic>
        <p:nvPicPr>
          <p:cNvPr id="11" name="그림 5">
            <a:extLst>
              <a:ext uri="{FF2B5EF4-FFF2-40B4-BE49-F238E27FC236}">
                <a16:creationId xmlns:a16="http://schemas.microsoft.com/office/drawing/2014/main" id="{F8D4202D-19F1-58D4-3CCE-9257310D9F0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260689" y="3241973"/>
            <a:ext cx="2313900" cy="2435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6448B3-FDCF-FB8F-6739-FB094BE1E5C9}"/>
              </a:ext>
            </a:extLst>
          </p:cNvPr>
          <p:cNvSpPr txBox="1"/>
          <p:nvPr/>
        </p:nvSpPr>
        <p:spPr>
          <a:xfrm>
            <a:off x="528174" y="5753990"/>
            <a:ext cx="28282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240625_12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E9D2D-4BD3-64FA-6B16-766D4A6D4247}"/>
              </a:ext>
            </a:extLst>
          </p:cNvPr>
          <p:cNvSpPr txBox="1"/>
          <p:nvPr/>
        </p:nvSpPr>
        <p:spPr>
          <a:xfrm>
            <a:off x="3342678" y="5753990"/>
            <a:ext cx="28282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240626_12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2AF02D-57B9-BE9C-9AFE-E8B12AA3E444}"/>
              </a:ext>
            </a:extLst>
          </p:cNvPr>
          <p:cNvSpPr txBox="1"/>
          <p:nvPr/>
        </p:nvSpPr>
        <p:spPr>
          <a:xfrm>
            <a:off x="6170974" y="5743122"/>
            <a:ext cx="28282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240627_12</a:t>
            </a:r>
          </a:p>
        </p:txBody>
      </p:sp>
    </p:spTree>
    <p:extLst>
      <p:ext uri="{BB962C8B-B14F-4D97-AF65-F5344CB8AC3E}">
        <p14:creationId xmlns:p14="http://schemas.microsoft.com/office/powerpoint/2010/main" val="3913553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EDA9-77F6-08B8-5C23-EE516317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47EED196-CADA-0337-CF28-55A97ABB4723}"/>
              </a:ext>
            </a:extLst>
          </p:cNvPr>
          <p:cNvSpPr txBox="1">
            <a:spLocks/>
          </p:cNvSpPr>
          <p:nvPr/>
        </p:nvSpPr>
        <p:spPr>
          <a:xfrm>
            <a:off x="418924" y="850094"/>
            <a:ext cx="8648876" cy="661059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Uncertainty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결론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: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Dropout rate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가 올라갈수록 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Uncertainty 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증가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 MAE 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감소</a:t>
            </a:r>
            <a:endParaRPr lang="en-US" altLang="ko-KR" sz="16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3D CNN</a:t>
            </a:r>
            <a:r>
              <a:rPr lang="ko-KR" altLang="en-US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8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vs 2D CNN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결론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: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기존 방법론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(2D CNN)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보다 </a:t>
            </a:r>
            <a:r>
              <a:rPr lang="en-US" altLang="ko-KR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3D CNN</a:t>
            </a: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 성능 저하</a:t>
            </a:r>
            <a:endParaRPr lang="en-US" altLang="ko-KR" sz="16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원인 분석</a:t>
            </a:r>
            <a:endParaRPr lang="en-US" altLang="ko-KR" sz="16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학습 데이터 수 부족</a:t>
            </a:r>
            <a:endParaRPr lang="en-US" altLang="ko-KR" sz="14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  </a:t>
            </a:r>
            <a:r>
              <a:rPr lang="en-US" altLang="ko-KR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2D CNN</a:t>
            </a:r>
            <a:r>
              <a:rPr lang="ko-KR" altLang="en-US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보다 학습 데이터 수 절반 감소</a:t>
            </a:r>
            <a:endParaRPr lang="en-US" altLang="ko-KR" sz="1400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학습 데이터 변형</a:t>
            </a:r>
            <a:endParaRPr lang="en-US" altLang="ko-KR" sz="14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 </a:t>
            </a:r>
            <a:r>
              <a:rPr lang="ko-KR" altLang="en-US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가려진 작물 </a:t>
            </a:r>
            <a:r>
              <a:rPr lang="en-US" altLang="ko-KR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image</a:t>
            </a:r>
            <a:r>
              <a:rPr lang="ko-KR" altLang="en-US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가 학습 </a:t>
            </a:r>
            <a:r>
              <a:rPr lang="en-US" altLang="ko-KR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data</a:t>
            </a:r>
            <a:r>
              <a:rPr lang="ko-KR" altLang="en-US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로 사용됨</a:t>
            </a:r>
            <a:endParaRPr lang="en-US" altLang="ko-KR" sz="1400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학습 데이터 </a:t>
            </a:r>
            <a:r>
              <a:rPr lang="en-US" altLang="ko-KR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</a:t>
            </a: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개가 아닌 </a:t>
            </a:r>
            <a:r>
              <a:rPr lang="en-US" altLang="ko-KR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</a:t>
            </a: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개가 </a:t>
            </a:r>
            <a:r>
              <a:rPr lang="en-US" altLang="ko-KR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input</a:t>
            </a: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으로 사용</a:t>
            </a:r>
            <a:endParaRPr lang="en-US" altLang="ko-KR" sz="14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 </a:t>
            </a:r>
            <a:r>
              <a:rPr lang="ko-KR" altLang="en-US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작물이 가려지는 경향을 학습하여 </a:t>
            </a:r>
            <a:r>
              <a:rPr lang="en-US" altLang="ko-KR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mean difference</a:t>
            </a:r>
            <a:r>
              <a:rPr lang="ko-KR" altLang="en-US" sz="1400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가 전반적으로 낮게 나옴</a:t>
            </a:r>
            <a:endParaRPr lang="en-US" altLang="ko-KR" sz="1400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en-US" altLang="ko-KR" sz="14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ko-KR" altLang="en-US" sz="1400" b="1" spc="-8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endParaRPr lang="en-US" altLang="ko-KR" sz="1400" b="1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314450" lvl="2" indent="-400050">
              <a:lnSpc>
                <a:spcPct val="150000"/>
              </a:lnSpc>
            </a:pPr>
            <a:endParaRPr lang="en-US" altLang="ko-KR" sz="1000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857250" lvl="1" indent="-400050">
              <a:lnSpc>
                <a:spcPct val="150000"/>
              </a:lnSpc>
            </a:pPr>
            <a:endParaRPr lang="en-US" altLang="ko-KR" sz="1600" spc="-8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A880147A-96D7-B878-F4EF-8F1A12E3F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654646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5. </a:t>
            </a:r>
            <a:r>
              <a:rPr lang="ko-KR" altLang="en-US" dirty="0">
                <a:solidFill>
                  <a:srgbClr val="404040"/>
                </a:solidFill>
              </a:rPr>
              <a:t>결론</a:t>
            </a:r>
            <a:endParaRPr lang="ko-KR" alt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918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836C-C485-E7AF-784E-18F2869A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고려대학교 DMQA 연구실">
            <a:extLst>
              <a:ext uri="{FF2B5EF4-FFF2-40B4-BE49-F238E27FC236}">
                <a16:creationId xmlns:a16="http://schemas.microsoft.com/office/drawing/2014/main" id="{3B571EC2-948F-DD56-E18A-641B24678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820" y="1496760"/>
            <a:ext cx="6103899" cy="406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3D9FEE-EA96-7192-475D-12574CA1B3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4529" y="228707"/>
            <a:ext cx="8958482" cy="468000"/>
          </a:xfrm>
        </p:spPr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</a:rPr>
              <a:t>6. </a:t>
            </a:r>
            <a:r>
              <a:rPr lang="ko-KR" altLang="en-US" dirty="0">
                <a:solidFill>
                  <a:srgbClr val="404040"/>
                </a:solidFill>
              </a:rPr>
              <a:t>인턴생활 후기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CFAA149D-0DE2-BEBF-F5E5-C69A55AAF992}"/>
              </a:ext>
            </a:extLst>
          </p:cNvPr>
          <p:cNvSpPr txBox="1">
            <a:spLocks/>
          </p:cNvSpPr>
          <p:nvPr/>
        </p:nvSpPr>
        <p:spPr>
          <a:xfrm>
            <a:off x="418924" y="850096"/>
            <a:ext cx="8663163" cy="45429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KoPub돋움체 Medium" panose="02020603020101020101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800" b="1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인턴생활 느낀 점</a:t>
            </a:r>
            <a:r>
              <a:rPr lang="en-US" altLang="ko-KR" sz="1800" b="1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,</a:t>
            </a:r>
            <a:r>
              <a:rPr lang="ko-KR" altLang="en-US" sz="1800" b="1" spc="-88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배운 점</a:t>
            </a:r>
            <a:endParaRPr lang="en-US" altLang="ko-KR" sz="1800" b="1" spc="-88" dirty="0">
              <a:ln>
                <a:solidFill>
                  <a:schemeClr val="bg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5018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102637</TotalTime>
  <Words>2226</Words>
  <Application>Microsoft Office PowerPoint</Application>
  <PresentationFormat>화면 슬라이드 쇼(4:3)</PresentationFormat>
  <Paragraphs>375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Malgun Gothic</vt:lpstr>
      <vt:lpstr>Malgun Gothic</vt:lpstr>
      <vt:lpstr>Arial</vt:lpstr>
      <vt:lpstr>Cambria Math</vt:lpstr>
      <vt:lpstr>Wingdings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민찬홍[ 학부재학 / 산업경영공학부 ]</cp:lastModifiedBy>
  <cp:revision>2063</cp:revision>
  <cp:lastPrinted>2019-10-07T23:56:56Z</cp:lastPrinted>
  <dcterms:created xsi:type="dcterms:W3CDTF">2019-10-01T03:07:16Z</dcterms:created>
  <dcterms:modified xsi:type="dcterms:W3CDTF">2024-12-25T16:36:58Z</dcterms:modified>
</cp:coreProperties>
</file>